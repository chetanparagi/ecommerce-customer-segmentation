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38"/>
  </p:notesMasterIdLst>
  <p:sldIdLst>
    <p:sldId id="256" r:id="rId2"/>
    <p:sldId id="714" r:id="rId3"/>
    <p:sldId id="715" r:id="rId4"/>
    <p:sldId id="716" r:id="rId5"/>
    <p:sldId id="717" r:id="rId6"/>
    <p:sldId id="718" r:id="rId7"/>
    <p:sldId id="719" r:id="rId8"/>
    <p:sldId id="720" r:id="rId9"/>
    <p:sldId id="721" r:id="rId10"/>
    <p:sldId id="722" r:id="rId11"/>
    <p:sldId id="723" r:id="rId12"/>
    <p:sldId id="724" r:id="rId13"/>
    <p:sldId id="725" r:id="rId14"/>
    <p:sldId id="726" r:id="rId15"/>
    <p:sldId id="727" r:id="rId16"/>
    <p:sldId id="728" r:id="rId17"/>
    <p:sldId id="729" r:id="rId18"/>
    <p:sldId id="730" r:id="rId19"/>
    <p:sldId id="731" r:id="rId20"/>
    <p:sldId id="732" r:id="rId21"/>
    <p:sldId id="733" r:id="rId22"/>
    <p:sldId id="734" r:id="rId23"/>
    <p:sldId id="735" r:id="rId24"/>
    <p:sldId id="736" r:id="rId25"/>
    <p:sldId id="737" r:id="rId26"/>
    <p:sldId id="738" r:id="rId27"/>
    <p:sldId id="739" r:id="rId28"/>
    <p:sldId id="740" r:id="rId29"/>
    <p:sldId id="741" r:id="rId30"/>
    <p:sldId id="742" r:id="rId31"/>
    <p:sldId id="745" r:id="rId32"/>
    <p:sldId id="746" r:id="rId33"/>
    <p:sldId id="747" r:id="rId34"/>
    <p:sldId id="748" r:id="rId35"/>
    <p:sldId id="711" r:id="rId36"/>
    <p:sldId id="303"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333F50"/>
    <a:srgbClr val="8497B0"/>
    <a:srgbClr val="8FAADC"/>
    <a:srgbClr val="2F5597"/>
    <a:srgbClr val="626CC7"/>
    <a:srgbClr val="323B8D"/>
    <a:srgbClr val="21275D"/>
    <a:srgbClr val="161A3E"/>
    <a:srgbClr val="2038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17BDAC-FE6F-8C0E-7C4A-2DC7643B582C}" v="268" dt="2026-07-09T18:53:25.04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71" autoAdjust="0"/>
    <p:restoredTop sz="93447" autoAdjust="0"/>
  </p:normalViewPr>
  <p:slideViewPr>
    <p:cSldViewPr snapToGrid="0">
      <p:cViewPr varScale="1">
        <p:scale>
          <a:sx n="104" d="100"/>
          <a:sy n="104" d="100"/>
        </p:scale>
        <p:origin x="192" y="51"/>
      </p:cViewPr>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09-07-2026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Tree>
    <p:extLst>
      <p:ext uri="{BB962C8B-B14F-4D97-AF65-F5344CB8AC3E}">
        <p14:creationId xmlns:p14="http://schemas.microsoft.com/office/powerpoint/2010/main" val="59999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25F15-9B21-01FF-BD6D-D04F30F7A091}"/>
              </a:ext>
            </a:extLst>
          </p:cNvPr>
          <p:cNvSpPr/>
          <p:nvPr/>
        </p:nvSpPr>
        <p:spPr>
          <a:xfrm>
            <a:off x="108858" y="3426919"/>
            <a:ext cx="12192000" cy="8115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3600"/>
              <a:t>E-Commerce Customer Segmentation &amp; Prediction</a:t>
            </a:r>
            <a:endParaRPr lang="en-US" sz="3600">
              <a:solidFill>
                <a:srgbClr val="161A3E"/>
              </a:solidFill>
            </a:endParaRPr>
          </a:p>
          <a:p>
            <a:endParaRPr lang="en-US" sz="3600" dirty="0">
              <a:solidFill>
                <a:srgbClr val="161A3E"/>
              </a:solidFill>
              <a:ea typeface="Calibri"/>
              <a:cs typeface="Calibri"/>
            </a:endParaRPr>
          </a:p>
          <a:p>
            <a:r>
              <a:rPr lang="en-US" sz="3600">
                <a:ea typeface="Calibri"/>
                <a:cs typeface="Calibri"/>
              </a:rPr>
              <a:t>Presented By :     Chetan Paragi</a:t>
            </a:r>
            <a:endParaRPr lang="en-US" sz="3600">
              <a:solidFill>
                <a:srgbClr val="161A3E"/>
              </a:solidFill>
              <a:ea typeface="Calibri"/>
              <a:cs typeface="Calibri"/>
            </a:endParaRPr>
          </a:p>
          <a:p>
            <a:r>
              <a:rPr lang="en-US" sz="3600">
                <a:ea typeface="Calibri"/>
                <a:cs typeface="Calibri"/>
              </a:rPr>
              <a:t>Batch :                  BEC-FEB-2026-DSAI-4-E-CITY</a:t>
            </a:r>
            <a:endParaRPr lang="en-US" sz="3600">
              <a:solidFill>
                <a:srgbClr val="161A3E"/>
              </a:solidFill>
              <a:ea typeface="Calibri"/>
              <a:cs typeface="Calibri"/>
            </a:endParaRPr>
          </a:p>
          <a:p>
            <a:endParaRPr lang="en-US" sz="2800" dirty="0">
              <a:ea typeface="Calibri"/>
              <a:cs typeface="Calibri"/>
            </a:endParaRPr>
          </a:p>
        </p:txBody>
      </p:sp>
    </p:spTree>
    <p:extLst>
      <p:ext uri="{BB962C8B-B14F-4D97-AF65-F5344CB8AC3E}">
        <p14:creationId xmlns:p14="http://schemas.microsoft.com/office/powerpoint/2010/main" val="102433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B360-A630-EE21-210D-844E85048949}"/>
              </a:ext>
            </a:extLst>
          </p:cNvPr>
          <p:cNvSpPr>
            <a:spLocks noGrp="1"/>
          </p:cNvSpPr>
          <p:nvPr>
            <p:ph type="title"/>
          </p:nvPr>
        </p:nvSpPr>
        <p:spPr/>
        <p:txBody>
          <a:bodyPr/>
          <a:lstStyle/>
          <a:p>
            <a:r>
              <a:t>Agenda</a:t>
            </a:r>
          </a:p>
        </p:txBody>
      </p:sp>
      <p:sp>
        <p:nvSpPr>
          <p:cNvPr id="3" name="Content Placeholder 2">
            <a:extLst>
              <a:ext uri="{FF2B5EF4-FFF2-40B4-BE49-F238E27FC236}">
                <a16:creationId xmlns:a16="http://schemas.microsoft.com/office/drawing/2014/main" id="{67B003C9-103A-47E6-D7EB-87D0A8CB5431}"/>
              </a:ext>
            </a:extLst>
          </p:cNvPr>
          <p:cNvSpPr>
            <a:spLocks noGrp="1"/>
          </p:cNvSpPr>
          <p:nvPr>
            <p:ph idx="1"/>
          </p:nvPr>
        </p:nvSpPr>
        <p:spPr/>
        <p:txBody>
          <a:bodyPr vert="horz" lIns="91440" tIns="45720" rIns="91440" bIns="45720" rtlCol="0" anchor="t">
            <a:normAutofit/>
          </a:bodyPr>
          <a:lstStyle/>
          <a:p>
            <a:r>
              <a:rPr sz="2000"/>
              <a:t>The Business Problem &amp; Project Goal</a:t>
            </a:r>
            <a:endParaRPr lang="en-IN"/>
          </a:p>
          <a:p>
            <a:r>
              <a:rPr sz="2000"/>
              <a:t>The Dataset &amp; Data Cleaning Journey</a:t>
            </a:r>
          </a:p>
          <a:p>
            <a:r>
              <a:rPr sz="2000"/>
              <a:t>Exploratory Data Analysis — Understanding Our Customers</a:t>
            </a:r>
          </a:p>
          <a:p>
            <a:r>
              <a:rPr sz="2000"/>
              <a:t>Feature Engineering — Building the RFM Story</a:t>
            </a:r>
          </a:p>
          <a:p>
            <a:r>
              <a:rPr sz="2000"/>
              <a:t>Clustering — Discovering Natural Customer Segments</a:t>
            </a:r>
          </a:p>
          <a:p>
            <a:r>
              <a:rPr sz="2000"/>
              <a:t>Segment Profiles — Meet the Four Customer Types</a:t>
            </a:r>
          </a:p>
          <a:p>
            <a:r>
              <a:rPr sz="2000"/>
              <a:t>Classification — Teaching a Model to Recognize Segments</a:t>
            </a:r>
          </a:p>
          <a:p>
            <a:r>
              <a:rPr sz="2000">
                <a:latin typeface="Calibri"/>
                <a:ea typeface="Calibri"/>
                <a:cs typeface="Calibri"/>
              </a:rPr>
              <a:t>Model Evaluation </a:t>
            </a:r>
          </a:p>
          <a:p>
            <a:r>
              <a:rPr sz="2000"/>
              <a:t>Business Recommendations &amp; Final Takeaways</a:t>
            </a:r>
          </a:p>
        </p:txBody>
      </p:sp>
    </p:spTree>
    <p:extLst>
      <p:ext uri="{BB962C8B-B14F-4D97-AF65-F5344CB8AC3E}">
        <p14:creationId xmlns:p14="http://schemas.microsoft.com/office/powerpoint/2010/main" val="19538045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Business Problem</a:t>
            </a:r>
          </a:p>
        </p:txBody>
      </p:sp>
      <p:sp>
        <p:nvSpPr>
          <p:cNvPr id="3" name="Content Placeholder 2"/>
          <p:cNvSpPr>
            <a:spLocks noGrp="1"/>
          </p:cNvSpPr>
          <p:nvPr>
            <p:ph idx="1"/>
          </p:nvPr>
        </p:nvSpPr>
        <p:spPr/>
        <p:txBody>
          <a:bodyPr wrap="square"/>
          <a:lstStyle/>
          <a:p>
            <a:r>
              <a:rPr sz="2000" b="0">
                <a:solidFill>
                  <a:srgbClr val="1A1A1A"/>
                </a:solidFill>
              </a:rPr>
              <a:t>An online retailer has thousands of customers but treats them all the same way in marketing.</a:t>
            </a:r>
          </a:p>
          <a:p>
            <a:r>
              <a:rPr sz="2000" b="0">
                <a:solidFill>
                  <a:srgbClr val="1A1A1A"/>
                </a:solidFill>
              </a:rPr>
              <a:t>Blanket campaigns waste budget on customers who would buy anyway, and fail to win back customers who are drifting away.</a:t>
            </a:r>
          </a:p>
          <a:p>
            <a:r>
              <a:rPr sz="2000" b="1">
                <a:solidFill>
                  <a:srgbClr val="1A1A1A"/>
                </a:solidFill>
              </a:rPr>
              <a:t>Goal: group customers into meaningful segments based on real purchase behaviour, then build a model that can instantly classify any customer, old or new, into the right segment.</a:t>
            </a:r>
          </a:p>
          <a:p>
            <a:r>
              <a:rPr sz="2000" b="0">
                <a:solidFill>
                  <a:srgbClr val="1A1A1A"/>
                </a:solidFill>
              </a:rPr>
              <a:t>This lets the marketing team design a different action for each type of customer.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Project Roadmap</a:t>
            </a:r>
          </a:p>
        </p:txBody>
      </p:sp>
      <p:sp>
        <p:nvSpPr>
          <p:cNvPr id="3" name="Content Placeholder 2"/>
          <p:cNvSpPr>
            <a:spLocks noGrp="1"/>
          </p:cNvSpPr>
          <p:nvPr>
            <p:ph idx="1"/>
          </p:nvPr>
        </p:nvSpPr>
        <p:spPr/>
        <p:txBody>
          <a:bodyPr wrap="square"/>
          <a:lstStyle/>
          <a:p>
            <a:r>
              <a:rPr sz="1800" b="0">
                <a:solidFill>
                  <a:srgbClr val="1A1A1A"/>
                </a:solidFill>
              </a:rPr>
              <a:t>1. Load and clean the raw transaction data</a:t>
            </a:r>
          </a:p>
          <a:p>
            <a:r>
              <a:rPr sz="1800" b="0">
                <a:solidFill>
                  <a:srgbClr val="1A1A1A"/>
                </a:solidFill>
              </a:rPr>
              <a:t>2. Explore the data (EDA) to understand sales and customer patterns</a:t>
            </a:r>
          </a:p>
          <a:p>
            <a:r>
              <a:rPr sz="1800" b="0">
                <a:solidFill>
                  <a:srgbClr val="1A1A1A"/>
                </a:solidFill>
              </a:rPr>
              <a:t>3. Engineer RFM features per customer (Recency, Frequency, Monetary)</a:t>
            </a:r>
          </a:p>
          <a:p>
            <a:r>
              <a:rPr sz="1800" b="0">
                <a:solidFill>
                  <a:srgbClr val="1A1A1A"/>
                </a:solidFill>
              </a:rPr>
              <a:t>4. Scale features and compare 4 clustering algorithms, keep the best</a:t>
            </a:r>
          </a:p>
          <a:p>
            <a:r>
              <a:rPr sz="1800" b="0">
                <a:solidFill>
                  <a:srgbClr val="1A1A1A"/>
                </a:solidFill>
              </a:rPr>
              <a:t>5. Label the resulting clusters (Champions / Promising / At-Risk / Hibernating)</a:t>
            </a:r>
          </a:p>
          <a:p>
            <a:r>
              <a:rPr sz="1800" b="0">
                <a:solidFill>
                  <a:srgbClr val="1A1A1A"/>
                </a:solidFill>
              </a:rPr>
              <a:t>6. Train 6 classification models on the cluster labels, keep the best</a:t>
            </a:r>
          </a:p>
          <a:p>
            <a:r>
              <a:rPr sz="1800" b="0">
                <a:solidFill>
                  <a:srgbClr val="1A1A1A"/>
                </a:solidFill>
              </a:rPr>
              <a:t>7. Save the winning model and build a live-prediction function</a:t>
            </a:r>
          </a:p>
          <a:p>
            <a:r>
              <a:rPr sz="1800" b="0">
                <a:solidFill>
                  <a:srgbClr val="1A1A1A"/>
                </a:solidFill>
              </a:rPr>
              <a:t>8. Translate results into business recommendations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Dataset</a:t>
            </a:r>
          </a:p>
        </p:txBody>
      </p:sp>
      <p:sp>
        <p:nvSpPr>
          <p:cNvPr id="3" name="Content Placeholder 2"/>
          <p:cNvSpPr>
            <a:spLocks noGrp="1"/>
          </p:cNvSpPr>
          <p:nvPr>
            <p:ph idx="1"/>
          </p:nvPr>
        </p:nvSpPr>
        <p:spPr/>
        <p:txBody>
          <a:bodyPr wrap="square"/>
          <a:lstStyle/>
          <a:p>
            <a:r>
              <a:rPr sz="1900" b="0">
                <a:solidFill>
                  <a:srgbClr val="1A1A1A"/>
                </a:solidFill>
              </a:rPr>
              <a:t>Source: UCI Online Retail Dataset, real transactions from a UK-based online gift retailer</a:t>
            </a:r>
          </a:p>
          <a:p>
            <a:r>
              <a:rPr sz="1900" b="0">
                <a:solidFill>
                  <a:srgbClr val="1A1A1A"/>
                </a:solidFill>
              </a:rPr>
              <a:t>541,909 transaction rows across 8 columns</a:t>
            </a:r>
          </a:p>
          <a:p>
            <a:pPr lvl="1"/>
            <a:r>
              <a:rPr sz="1700" b="0">
                <a:solidFill>
                  <a:srgbClr val="1A1A1A"/>
                </a:solidFill>
              </a:rPr>
              <a:t>InvoiceNo, StockCode, Description, Quantity, InvoiceDate, UnitPrice, CustomerID, Country</a:t>
            </a:r>
          </a:p>
          <a:p>
            <a:r>
              <a:rPr sz="1900" b="0">
                <a:solidFill>
                  <a:srgbClr val="1A1A1A"/>
                </a:solidFill>
              </a:rPr>
              <a:t>Time span: 1 Dec 2010 to 9 Dec 2011, about one year of trading</a:t>
            </a:r>
          </a:p>
          <a:p>
            <a:r>
              <a:rPr sz="1900" b="0">
                <a:solidFill>
                  <a:srgbClr val="1A1A1A"/>
                </a:solidFill>
              </a:rPr>
              <a:t>135,080 rows were missing a CustomerID and 5,268 rows were exact duplicates, signs the raw data needed real cleaning before it could be trusted.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 Cleaning: From Raw to Reliable</a:t>
            </a:r>
          </a:p>
        </p:txBody>
      </p:sp>
      <p:sp>
        <p:nvSpPr>
          <p:cNvPr id="3" name="Content Placeholder 2"/>
          <p:cNvSpPr>
            <a:spLocks noGrp="1"/>
          </p:cNvSpPr>
          <p:nvPr>
            <p:ph idx="1"/>
          </p:nvPr>
        </p:nvSpPr>
        <p:spPr/>
        <p:txBody>
          <a:bodyPr wrap="square"/>
          <a:lstStyle/>
          <a:p>
            <a:r>
              <a:rPr sz="1800" b="1">
                <a:solidFill>
                  <a:srgbClr val="1A1A1A"/>
                </a:solidFill>
              </a:rPr>
              <a:t>Starting point: 541,909 rows</a:t>
            </a:r>
          </a:p>
          <a:p>
            <a:r>
              <a:rPr sz="1800" b="0">
                <a:solidFill>
                  <a:srgbClr val="1A1A1A"/>
                </a:solidFill>
              </a:rPr>
              <a:t>Removed rows with missing CustomerID -&gt; 406,829 rows remain (-135,080)</a:t>
            </a:r>
          </a:p>
          <a:p>
            <a:r>
              <a:rPr sz="1800" b="0">
                <a:solidFill>
                  <a:srgbClr val="1A1A1A"/>
                </a:solidFill>
              </a:rPr>
              <a:t>Removed cancelled orders, InvoiceNo starting with 'C' -&gt; 397,924 rows remain (-8,905)</a:t>
            </a:r>
          </a:p>
          <a:p>
            <a:r>
              <a:rPr sz="1800" b="0">
                <a:solidFill>
                  <a:srgbClr val="1A1A1A"/>
                </a:solidFill>
              </a:rPr>
              <a:t>Removed duplicate rows -&gt; 392,732 rows remain (-5,192)</a:t>
            </a:r>
          </a:p>
          <a:p>
            <a:r>
              <a:rPr sz="1800" b="0">
                <a:solidFill>
                  <a:srgbClr val="1A1A1A"/>
                </a:solidFill>
              </a:rPr>
              <a:t>Removed rows with negative or zero quantity/price -&gt; 392,692 rows remain (-40)</a:t>
            </a:r>
          </a:p>
          <a:p>
            <a:r>
              <a:rPr sz="1800" b="1">
                <a:solidFill>
                  <a:srgbClr val="1A1A1A"/>
                </a:solidFill>
              </a:rPr>
              <a:t>Final clean dataset: 392,692 transactions from 4,338 unique customers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7283" y="-764948"/>
            <a:ext cx="10834234" cy="2852737"/>
          </a:xfrm>
        </p:spPr>
        <p:txBody>
          <a:bodyPr/>
          <a:lstStyle/>
          <a:p>
            <a:r>
              <a:t>Exploratory Data Analysis</a:t>
            </a:r>
          </a:p>
        </p:txBody>
      </p:sp>
      <p:sp>
        <p:nvSpPr>
          <p:cNvPr id="3" name="Text Placeholder 2"/>
          <p:cNvSpPr>
            <a:spLocks noGrp="1"/>
          </p:cNvSpPr>
          <p:nvPr>
            <p:ph type="body" idx="1"/>
          </p:nvPr>
        </p:nvSpPr>
        <p:spPr>
          <a:xfrm>
            <a:off x="577283" y="2680835"/>
            <a:ext cx="10834234" cy="1500187"/>
          </a:xfrm>
        </p:spPr>
        <p:txBody>
          <a:bodyPr vert="horz" lIns="91440" tIns="45720" rIns="91440" bIns="45720" rtlCol="0" anchor="t">
            <a:normAutofit/>
          </a:bodyPr>
          <a:lstStyle/>
          <a:p>
            <a:r>
              <a:rPr dirty="0">
                <a:solidFill>
                  <a:schemeClr val="tx1"/>
                </a:solidFill>
                <a:latin typeface="Calibri"/>
                <a:ea typeface="Calibri"/>
                <a:cs typeface="Calibri"/>
              </a:rPr>
              <a:t>Understanding overall sales and customer </a:t>
            </a:r>
            <a:r>
              <a:rPr dirty="0" err="1">
                <a:solidFill>
                  <a:schemeClr val="tx1"/>
                </a:solidFill>
                <a:latin typeface="Calibri"/>
                <a:ea typeface="Calibri"/>
                <a:cs typeface="Calibri"/>
              </a:rPr>
              <a:t>behaviour</a:t>
            </a:r>
            <a:r>
              <a:rPr dirty="0">
                <a:solidFill>
                  <a:schemeClr val="tx1"/>
                </a:solidFill>
                <a:latin typeface="Calibri"/>
                <a:ea typeface="Calibri"/>
                <a:cs typeface="Calibri"/>
              </a:rPr>
              <a:t> before building any model</a:t>
            </a:r>
            <a:endParaRPr lang="en-US" dirty="0">
              <a:solidFill>
                <a:schemeClr val="tx1"/>
              </a:solidFill>
              <a:latin typeface="Calibri"/>
              <a:ea typeface="Calibri"/>
              <a:cs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Monthly Business Trends</a:t>
            </a:r>
          </a:p>
        </p:txBody>
      </p:sp>
      <p:pic>
        <p:nvPicPr>
          <p:cNvPr id="3" name="Picture 2" descr="eda_trends.png"/>
          <p:cNvPicPr>
            <a:picLocks noChangeAspect="1"/>
          </p:cNvPicPr>
          <p:nvPr/>
        </p:nvPicPr>
        <p:blipFill>
          <a:blip r:embed="rId2"/>
          <a:stretch>
            <a:fillRect/>
          </a:stretch>
        </p:blipFill>
        <p:spPr>
          <a:xfrm>
            <a:off x="678884" y="1546965"/>
            <a:ext cx="10834234" cy="2704297"/>
          </a:xfrm>
          <a:prstGeom prst="rect">
            <a:avLst/>
          </a:prstGeom>
        </p:spPr>
      </p:pic>
      <p:sp>
        <p:nvSpPr>
          <p:cNvPr id="4" name="TextBox 3"/>
          <p:cNvSpPr txBox="1"/>
          <p:nvPr/>
        </p:nvSpPr>
        <p:spPr>
          <a:xfrm>
            <a:off x="678884" y="4760114"/>
            <a:ext cx="10834234" cy="615553"/>
          </a:xfrm>
          <a:prstGeom prst="rect">
            <a:avLst/>
          </a:prstGeom>
          <a:noFill/>
        </p:spPr>
        <p:txBody>
          <a:bodyPr wrap="square" lIns="91440" tIns="0" rIns="91440" bIns="0" anchor="t">
            <a:spAutoFit/>
          </a:bodyPr>
          <a:lstStyle/>
          <a:p>
            <a:r>
              <a:rPr lang="en-US" sz="2000" i="1">
                <a:solidFill>
                  <a:srgbClr val="000000"/>
                </a:solidFill>
              </a:rPr>
              <a:t>Revenue</a:t>
            </a:r>
            <a:r>
              <a:rPr sz="2000" i="1" dirty="0">
                <a:solidFill>
                  <a:srgbClr val="000000"/>
                </a:solidFill>
              </a:rPr>
              <a:t>, orders and active customers all trend upward through the year and spike sharply in Sep-Nov as customers stock up ahead of Christmas, telling us exactly when to push the biggest campaigns.</a:t>
            </a:r>
            <a:endParaRPr lang="en-US" sz="2000" i="1" dirty="0">
              <a:solidFill>
                <a:srgbClr val="000000"/>
              </a:solidFill>
              <a:ea typeface="Calibri"/>
              <a:cs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Where the Business Sells and What It Sells</a:t>
            </a:r>
          </a:p>
        </p:txBody>
      </p:sp>
      <p:pic>
        <p:nvPicPr>
          <p:cNvPr id="3" name="Picture 2" descr="eda_country_product.png"/>
          <p:cNvPicPr>
            <a:picLocks noChangeAspect="1"/>
          </p:cNvPicPr>
          <p:nvPr/>
        </p:nvPicPr>
        <p:blipFill>
          <a:blip r:embed="rId2"/>
          <a:stretch>
            <a:fillRect/>
          </a:stretch>
        </p:blipFill>
        <p:spPr>
          <a:xfrm>
            <a:off x="678884" y="1222183"/>
            <a:ext cx="10834234" cy="3599292"/>
          </a:xfrm>
          <a:prstGeom prst="rect">
            <a:avLst/>
          </a:prstGeom>
        </p:spPr>
      </p:pic>
      <p:sp>
        <p:nvSpPr>
          <p:cNvPr id="4" name="TextBox 3"/>
          <p:cNvSpPr txBox="1"/>
          <p:nvPr/>
        </p:nvSpPr>
        <p:spPr>
          <a:xfrm>
            <a:off x="678884" y="5216000"/>
            <a:ext cx="10834234" cy="923330"/>
          </a:xfrm>
          <a:prstGeom prst="rect">
            <a:avLst/>
          </a:prstGeom>
          <a:noFill/>
        </p:spPr>
        <p:txBody>
          <a:bodyPr wrap="square" lIns="91440" tIns="0" rIns="91440" bIns="0" anchor="t">
            <a:spAutoFit/>
          </a:bodyPr>
          <a:lstStyle/>
          <a:p>
            <a:r>
              <a:rPr lang="en-US" sz="2000" i="1" dirty="0">
                <a:solidFill>
                  <a:srgbClr val="000000"/>
                </a:solidFill>
              </a:rPr>
              <a:t>The</a:t>
            </a:r>
            <a:r>
              <a:rPr sz="2000" i="1" dirty="0">
                <a:solidFill>
                  <a:srgbClr val="000000"/>
                </a:solidFill>
              </a:rPr>
              <a:t> United Kingdom alone accounts for the vast majority of transactions, so international expansion is a growth lever, while gift and home-decor items (t-light holders, coat hangers, nesting boxes) drive the most revenue and are the safest bets for cross-sell bundles.</a:t>
            </a:r>
            <a:endParaRPr lang="en-US" sz="2000" i="1">
              <a:solidFill>
                <a:srgbClr val="000000"/>
              </a:solidFill>
              <a:ea typeface="Calibri"/>
              <a:cs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When Do Customers Shop?</a:t>
            </a:r>
          </a:p>
        </p:txBody>
      </p:sp>
      <p:pic>
        <p:nvPicPr>
          <p:cNvPr id="3" name="Picture 2" descr="eda_heatmap.png"/>
          <p:cNvPicPr>
            <a:picLocks noChangeAspect="1"/>
          </p:cNvPicPr>
          <p:nvPr/>
        </p:nvPicPr>
        <p:blipFill>
          <a:blip r:embed="rId2"/>
          <a:stretch>
            <a:fillRect/>
          </a:stretch>
        </p:blipFill>
        <p:spPr>
          <a:xfrm>
            <a:off x="1012072" y="1216971"/>
            <a:ext cx="10167857" cy="3900000"/>
          </a:xfrm>
          <a:prstGeom prst="rect">
            <a:avLst/>
          </a:prstGeom>
        </p:spPr>
      </p:pic>
      <p:sp>
        <p:nvSpPr>
          <p:cNvPr id="4" name="TextBox 3"/>
          <p:cNvSpPr txBox="1"/>
          <p:nvPr/>
        </p:nvSpPr>
        <p:spPr>
          <a:xfrm>
            <a:off x="787741" y="5216000"/>
            <a:ext cx="10834234" cy="923330"/>
          </a:xfrm>
          <a:prstGeom prst="rect">
            <a:avLst/>
          </a:prstGeom>
          <a:noFill/>
        </p:spPr>
        <p:txBody>
          <a:bodyPr wrap="square" lIns="91440" tIns="0" rIns="91440" bIns="0" anchor="t">
            <a:spAutoFit/>
          </a:bodyPr>
          <a:lstStyle/>
          <a:p>
            <a:r>
              <a:rPr lang="en-US" sz="2000" i="1">
                <a:solidFill>
                  <a:schemeClr val="bg2">
                    <a:lumMod val="10000"/>
                  </a:schemeClr>
                </a:solidFill>
              </a:rPr>
              <a:t>Buying</a:t>
            </a:r>
            <a:r>
              <a:rPr sz="2000" i="1">
                <a:solidFill>
                  <a:schemeClr val="bg2">
                    <a:lumMod val="10000"/>
                  </a:schemeClr>
                </a:solidFill>
              </a:rPr>
              <a:t> activity is concentrated late morning to early afternoon (roughly 10am-3pm) on weekdays, with almost no activity on Saturday, telling marketing </a:t>
            </a:r>
            <a:r>
              <a:rPr sz="2000" i="1" dirty="0">
                <a:solidFill>
                  <a:schemeClr val="bg2">
                    <a:lumMod val="10000"/>
                  </a:schemeClr>
                </a:solidFill>
              </a:rPr>
              <a:t>exactly when to schedule emails and flash sales for maximum open and conversion rates.</a:t>
            </a:r>
            <a:endParaRPr lang="en-US" sz="2000" i="1">
              <a:solidFill>
                <a:schemeClr val="bg2">
                  <a:lumMod val="10000"/>
                </a:schemeClr>
              </a:solidFill>
              <a:ea typeface="Calibri"/>
              <a:cs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How Often Do Customers Come Back?</a:t>
            </a:r>
          </a:p>
        </p:txBody>
      </p:sp>
      <p:pic>
        <p:nvPicPr>
          <p:cNvPr id="3" name="Picture 2" descr="eda_freq.png"/>
          <p:cNvPicPr>
            <a:picLocks noChangeAspect="1"/>
          </p:cNvPicPr>
          <p:nvPr/>
        </p:nvPicPr>
        <p:blipFill>
          <a:blip r:embed="rId2"/>
          <a:stretch>
            <a:fillRect/>
          </a:stretch>
        </p:blipFill>
        <p:spPr>
          <a:xfrm>
            <a:off x="678884" y="1221479"/>
            <a:ext cx="10834234" cy="3876469"/>
          </a:xfrm>
          <a:prstGeom prst="rect">
            <a:avLst/>
          </a:prstGeom>
        </p:spPr>
      </p:pic>
      <p:sp>
        <p:nvSpPr>
          <p:cNvPr id="4" name="TextBox 3"/>
          <p:cNvSpPr txBox="1"/>
          <p:nvPr/>
        </p:nvSpPr>
        <p:spPr>
          <a:xfrm>
            <a:off x="678884" y="5099886"/>
            <a:ext cx="10834234" cy="923330"/>
          </a:xfrm>
          <a:prstGeom prst="rect">
            <a:avLst/>
          </a:prstGeom>
          <a:noFill/>
        </p:spPr>
        <p:txBody>
          <a:bodyPr wrap="square" lIns="91440" tIns="0" rIns="91440" bIns="0" anchor="t">
            <a:spAutoFit/>
          </a:bodyPr>
          <a:lstStyle/>
          <a:p>
            <a:r>
              <a:rPr lang="en-US" sz="2000" i="1" dirty="0">
                <a:solidFill>
                  <a:schemeClr val="bg2">
                    <a:lumMod val="10000"/>
                  </a:schemeClr>
                </a:solidFill>
              </a:rPr>
              <a:t>The</a:t>
            </a:r>
            <a:r>
              <a:rPr sz="2000" i="1" dirty="0">
                <a:solidFill>
                  <a:schemeClr val="bg2">
                    <a:lumMod val="10000"/>
                  </a:schemeClr>
                </a:solidFill>
              </a:rPr>
              <a:t> vast majority of customers order only once or twice (mean 3.1, median 2 orders), meaning one-time buyers are the norm, not the exception, so converting a first purchase into a second is the single biggest lever for growth.</a:t>
            </a:r>
            <a:endParaRPr lang="en-US" sz="2000" i="1">
              <a:solidFill>
                <a:schemeClr val="bg2">
                  <a:lumMod val="10000"/>
                </a:schemeClr>
              </a:solidFill>
              <a:ea typeface="Calibri"/>
              <a:cs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8883" y="-445633"/>
            <a:ext cx="10834234" cy="2852737"/>
          </a:xfrm>
        </p:spPr>
        <p:txBody>
          <a:bodyPr/>
          <a:lstStyle/>
          <a:p>
            <a:r>
              <a:t>Feature Engineering</a:t>
            </a:r>
          </a:p>
        </p:txBody>
      </p:sp>
      <p:sp>
        <p:nvSpPr>
          <p:cNvPr id="3" name="Text Placeholder 2"/>
          <p:cNvSpPr>
            <a:spLocks noGrp="1"/>
          </p:cNvSpPr>
          <p:nvPr>
            <p:ph type="body" idx="1"/>
          </p:nvPr>
        </p:nvSpPr>
        <p:spPr>
          <a:xfrm>
            <a:off x="678883" y="3239636"/>
            <a:ext cx="10834234" cy="1500187"/>
          </a:xfrm>
        </p:spPr>
        <p:txBody>
          <a:bodyPr vert="horz" lIns="91440" tIns="45720" rIns="91440" bIns="45720" rtlCol="0" anchor="t">
            <a:normAutofit/>
          </a:bodyPr>
          <a:lstStyle/>
          <a:p>
            <a:r>
              <a:rPr>
                <a:solidFill>
                  <a:schemeClr val="bg2">
                    <a:lumMod val="10000"/>
                  </a:schemeClr>
                </a:solidFill>
                <a:latin typeface="Calibri"/>
                <a:ea typeface="Calibri"/>
                <a:cs typeface="Calibri"/>
              </a:rPr>
              <a:t>Turning raw transactions into one row per customer:</a:t>
            </a:r>
            <a:r>
              <a:rPr lang="en-US">
                <a:solidFill>
                  <a:schemeClr val="bg2">
                    <a:lumMod val="10000"/>
                  </a:schemeClr>
                </a:solidFill>
                <a:latin typeface="Calibri"/>
                <a:ea typeface="Calibri"/>
                <a:cs typeface="Calibri"/>
              </a:rPr>
              <a:t>  The</a:t>
            </a:r>
            <a:r>
              <a:rPr>
                <a:solidFill>
                  <a:schemeClr val="bg2">
                    <a:lumMod val="10000"/>
                  </a:schemeClr>
                </a:solidFill>
                <a:latin typeface="Calibri"/>
                <a:ea typeface="Calibri"/>
                <a:cs typeface="Calibri"/>
              </a:rPr>
              <a:t> RFM table</a:t>
            </a:r>
            <a:endParaRPr lang="en-US">
              <a:solidFill>
                <a:schemeClr val="bg2">
                  <a:lumMod val="10000"/>
                </a:schemeClr>
              </a:solidFill>
              <a:latin typeface="Calibri"/>
              <a:ea typeface="Calibri"/>
              <a:cs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Building the RFM Table</a:t>
            </a:r>
          </a:p>
        </p:txBody>
      </p:sp>
      <p:sp>
        <p:nvSpPr>
          <p:cNvPr id="3" name="Content Placeholder 2"/>
          <p:cNvSpPr>
            <a:spLocks noGrp="1"/>
          </p:cNvSpPr>
          <p:nvPr>
            <p:ph idx="1"/>
          </p:nvPr>
        </p:nvSpPr>
        <p:spPr/>
        <p:txBody>
          <a:bodyPr wrap="square"/>
          <a:lstStyle/>
          <a:p>
            <a:r>
              <a:rPr sz="1800" b="0">
                <a:solidFill>
                  <a:srgbClr val="1A1A1A"/>
                </a:solidFill>
              </a:rPr>
              <a:t>Every customer's entire purchase history is compressed into a handful of behavioural features:</a:t>
            </a:r>
          </a:p>
          <a:p>
            <a:r>
              <a:rPr sz="1800" b="1">
                <a:solidFill>
                  <a:srgbClr val="1A1A1A"/>
                </a:solidFill>
              </a:rPr>
              <a:t>R = Recency: days since the customer's last purchase (lower is better)</a:t>
            </a:r>
          </a:p>
          <a:p>
            <a:r>
              <a:rPr sz="1800" b="1">
                <a:solidFill>
                  <a:srgbClr val="1A1A1A"/>
                </a:solidFill>
              </a:rPr>
              <a:t>F = Frequency: number of distinct orders placed (higher is better)</a:t>
            </a:r>
          </a:p>
          <a:p>
            <a:r>
              <a:rPr sz="1800" b="1">
                <a:solidFill>
                  <a:srgbClr val="1A1A1A"/>
                </a:solidFill>
              </a:rPr>
              <a:t>M = Monetary: total amount spent (higher is better)</a:t>
            </a:r>
          </a:p>
          <a:p>
            <a:r>
              <a:rPr sz="1800" b="0">
                <a:solidFill>
                  <a:srgbClr val="1A1A1A"/>
                </a:solidFill>
              </a:rPr>
              <a:t>Plus supporting features: AvgOrderValue, NumProducts, TotalItems, an RFM_Score (1-5 scored R+F+M) and a CLV_Proxy (customer lifetime value estimate)</a:t>
            </a:r>
          </a:p>
          <a:p>
            <a:r>
              <a:rPr sz="1800" b="1">
                <a:solidFill>
                  <a:srgbClr val="1A1A1A"/>
                </a:solidFill>
              </a:rPr>
              <a:t>Result: 4,338 customers x 11 engineered features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RFM Feature Distributions</a:t>
            </a:r>
          </a:p>
        </p:txBody>
      </p:sp>
      <p:pic>
        <p:nvPicPr>
          <p:cNvPr id="3" name="Picture 2" descr="rfm_dist.png"/>
          <p:cNvPicPr>
            <a:picLocks noChangeAspect="1"/>
          </p:cNvPicPr>
          <p:nvPr/>
        </p:nvPicPr>
        <p:blipFill>
          <a:blip r:embed="rId2"/>
          <a:stretch>
            <a:fillRect/>
          </a:stretch>
        </p:blipFill>
        <p:spPr>
          <a:xfrm>
            <a:off x="678884" y="1511140"/>
            <a:ext cx="10834234" cy="2890748"/>
          </a:xfrm>
          <a:prstGeom prst="rect">
            <a:avLst/>
          </a:prstGeom>
        </p:spPr>
      </p:pic>
      <p:sp>
        <p:nvSpPr>
          <p:cNvPr id="4" name="TextBox 3"/>
          <p:cNvSpPr txBox="1"/>
          <p:nvPr/>
        </p:nvSpPr>
        <p:spPr>
          <a:xfrm>
            <a:off x="678884" y="4853143"/>
            <a:ext cx="10834234" cy="923330"/>
          </a:xfrm>
          <a:prstGeom prst="rect">
            <a:avLst/>
          </a:prstGeom>
          <a:noFill/>
        </p:spPr>
        <p:txBody>
          <a:bodyPr wrap="square" lIns="91440" tIns="0" rIns="91440" bIns="0" anchor="t">
            <a:spAutoFit/>
          </a:bodyPr>
          <a:lstStyle/>
          <a:p>
            <a:r>
              <a:rPr lang="en-US" sz="2000" i="1">
                <a:solidFill>
                  <a:schemeClr val="bg2">
                    <a:lumMod val="10000"/>
                  </a:schemeClr>
                </a:solidFill>
              </a:rPr>
              <a:t>All</a:t>
            </a:r>
            <a:r>
              <a:rPr sz="2000" i="1">
                <a:solidFill>
                  <a:schemeClr val="bg2">
                    <a:lumMod val="10000"/>
                  </a:schemeClr>
                </a:solidFill>
              </a:rPr>
              <a:t> three RFM features are heavily right-skewed, a small group of customers buys very recently, very often and spends very heavily, while most customers sit </a:t>
            </a:r>
            <a:r>
              <a:rPr sz="2000" i="1" dirty="0">
                <a:solidFill>
                  <a:schemeClr val="bg2">
                    <a:lumMod val="10000"/>
                  </a:schemeClr>
                </a:solidFill>
              </a:rPr>
              <a:t>near the low end, this imbalance is exactly why segmentation (rather than one blanket strategy) is needed.</a:t>
            </a:r>
            <a:endParaRPr lang="en-US" sz="2000" i="1">
              <a:solidFill>
                <a:schemeClr val="bg2">
                  <a:lumMod val="10000"/>
                </a:schemeClr>
              </a:solidFill>
              <a:ea typeface="Calibri"/>
              <a:cs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How Do the Features Relate to Each Other?</a:t>
            </a:r>
          </a:p>
        </p:txBody>
      </p:sp>
      <p:pic>
        <p:nvPicPr>
          <p:cNvPr id="3" name="Picture 2" descr="rfm_corr.png"/>
          <p:cNvPicPr>
            <a:picLocks noChangeAspect="1"/>
          </p:cNvPicPr>
          <p:nvPr/>
        </p:nvPicPr>
        <p:blipFill>
          <a:blip r:embed="rId2"/>
          <a:stretch>
            <a:fillRect/>
          </a:stretch>
        </p:blipFill>
        <p:spPr>
          <a:xfrm>
            <a:off x="3874840" y="1216971"/>
            <a:ext cx="4442321" cy="3900000"/>
          </a:xfrm>
          <a:prstGeom prst="rect">
            <a:avLst/>
          </a:prstGeom>
        </p:spPr>
      </p:pic>
      <p:sp>
        <p:nvSpPr>
          <p:cNvPr id="4" name="TextBox 3"/>
          <p:cNvSpPr txBox="1"/>
          <p:nvPr/>
        </p:nvSpPr>
        <p:spPr>
          <a:xfrm>
            <a:off x="678884" y="5332114"/>
            <a:ext cx="10834234" cy="923330"/>
          </a:xfrm>
          <a:prstGeom prst="rect">
            <a:avLst/>
          </a:prstGeom>
          <a:noFill/>
        </p:spPr>
        <p:txBody>
          <a:bodyPr wrap="square" lIns="91440" tIns="0" rIns="91440" bIns="0" anchor="t">
            <a:spAutoFit/>
          </a:bodyPr>
          <a:lstStyle/>
          <a:p>
            <a:r>
              <a:rPr sz="2000" i="1" dirty="0">
                <a:solidFill>
                  <a:schemeClr val="bg2">
                    <a:lumMod val="10000"/>
                  </a:schemeClr>
                </a:solidFill>
              </a:rPr>
              <a:t>Frequency, Monetary, </a:t>
            </a:r>
            <a:r>
              <a:rPr sz="2000" i="1" dirty="0" err="1">
                <a:solidFill>
                  <a:schemeClr val="bg2">
                    <a:lumMod val="10000"/>
                  </a:schemeClr>
                </a:solidFill>
              </a:rPr>
              <a:t>NumProducts</a:t>
            </a:r>
            <a:r>
              <a:rPr sz="2000" i="1" dirty="0">
                <a:solidFill>
                  <a:schemeClr val="bg2">
                    <a:lumMod val="10000"/>
                  </a:schemeClr>
                </a:solidFill>
              </a:rPr>
              <a:t> and </a:t>
            </a:r>
            <a:r>
              <a:rPr sz="2000" i="1" dirty="0" err="1">
                <a:solidFill>
                  <a:schemeClr val="bg2">
                    <a:lumMod val="10000"/>
                  </a:schemeClr>
                </a:solidFill>
              </a:rPr>
              <a:t>CLV_Proxy</a:t>
            </a:r>
            <a:r>
              <a:rPr sz="2000" i="1" dirty="0">
                <a:solidFill>
                  <a:schemeClr val="bg2">
                    <a:lumMod val="10000"/>
                  </a:schemeClr>
                </a:solidFill>
              </a:rPr>
              <a:t> all move strongly together, while Recency is only weakly linked to the others, so 'how often and how much a customer buys' is the dominant signal separating customers, not just 'how recently' they bought.</a:t>
            </a:r>
            <a:endParaRPr lang="en-US" sz="2000" i="1">
              <a:solidFill>
                <a:schemeClr val="bg2">
                  <a:lumMod val="10000"/>
                </a:schemeClr>
              </a:solidFill>
              <a:ea typeface="Calibri"/>
              <a:cs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8883" y="-808491"/>
            <a:ext cx="10834234" cy="2852737"/>
          </a:xfrm>
        </p:spPr>
        <p:txBody>
          <a:bodyPr/>
          <a:lstStyle/>
          <a:p>
            <a:r>
              <a:t>Customer Segmentation</a:t>
            </a:r>
          </a:p>
        </p:txBody>
      </p:sp>
      <p:sp>
        <p:nvSpPr>
          <p:cNvPr id="3" name="Text Placeholder 2"/>
          <p:cNvSpPr>
            <a:spLocks noGrp="1"/>
          </p:cNvSpPr>
          <p:nvPr>
            <p:ph type="body" idx="1"/>
          </p:nvPr>
        </p:nvSpPr>
        <p:spPr>
          <a:xfrm>
            <a:off x="678883" y="2455864"/>
            <a:ext cx="10834234" cy="1500187"/>
          </a:xfrm>
        </p:spPr>
        <p:txBody>
          <a:bodyPr vert="horz" lIns="91440" tIns="45720" rIns="91440" bIns="45720" rtlCol="0" anchor="t">
            <a:normAutofit/>
          </a:bodyPr>
          <a:lstStyle/>
          <a:p>
            <a:r>
              <a:rPr>
                <a:solidFill>
                  <a:schemeClr val="bg2">
                    <a:lumMod val="10000"/>
                  </a:schemeClr>
                </a:solidFill>
                <a:latin typeface="Calibri"/>
                <a:ea typeface="Calibri"/>
                <a:cs typeface="Calibri"/>
              </a:rPr>
              <a:t>Letting the data reveal natural customer groups, no manual rules</a:t>
            </a:r>
            <a:endParaRPr lang="en-US">
              <a:solidFill>
                <a:schemeClr val="bg2">
                  <a:lumMod val="10000"/>
                </a:schemeClr>
              </a:solidFill>
              <a:latin typeface="Calibri"/>
              <a:ea typeface="Calibri"/>
              <a:cs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Preparing for Clustering</a:t>
            </a:r>
          </a:p>
        </p:txBody>
      </p:sp>
      <p:sp>
        <p:nvSpPr>
          <p:cNvPr id="3" name="Content Placeholder 2"/>
          <p:cNvSpPr>
            <a:spLocks noGrp="1"/>
          </p:cNvSpPr>
          <p:nvPr>
            <p:ph idx="1"/>
          </p:nvPr>
        </p:nvSpPr>
        <p:spPr/>
        <p:txBody>
          <a:bodyPr wrap="square"/>
          <a:lstStyle/>
          <a:p>
            <a:r>
              <a:rPr sz="1700" b="0">
                <a:solidFill>
                  <a:srgbClr val="1A1A1A"/>
                </a:solidFill>
              </a:rPr>
              <a:t>Outliers capped at the 99th percentile on Monetary, AvgOrderValue, CLV_Proxy, Frequency and TotalItems, so a few extreme spenders don't distort the geometry.</a:t>
            </a:r>
          </a:p>
          <a:p>
            <a:r>
              <a:rPr sz="1700" b="0">
                <a:solidFill>
                  <a:srgbClr val="1A1A1A"/>
                </a:solidFill>
              </a:rPr>
              <a:t>All 8 features scaled with StandardScaler (mean = 0, std = 1) so no single feature dominates just because of its units.</a:t>
            </a:r>
          </a:p>
          <a:p>
            <a:r>
              <a:rPr sz="1700" b="1">
                <a:solidFill>
                  <a:srgbClr val="1A1A1A"/>
                </a:solidFill>
              </a:rPr>
              <a:t>Four different clustering algorithms are then trained on the same scaled data and compared head-to-head:</a:t>
            </a:r>
          </a:p>
          <a:p>
            <a:pPr lvl="1"/>
            <a:r>
              <a:rPr sz="1500" b="0">
                <a:solidFill>
                  <a:srgbClr val="1A1A1A"/>
                </a:solidFill>
              </a:rPr>
              <a:t>K-Means, Hierarchical (Ward linkage), DBSCAN, Gaussian Mixture Model (GMM)</a:t>
            </a:r>
          </a:p>
          <a:p>
            <a:r>
              <a:rPr sz="1700" b="0">
                <a:solidFill>
                  <a:srgbClr val="1A1A1A"/>
                </a:solidFill>
              </a:rPr>
              <a:t>Compared on three metrics: Silhouette Score (higher/closer to +1 is better), Davies-Bouldin Index (lower/closer to 0 is better), Calinski-Harabasz Index (higher is better).</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Finding the Right Number of Clusters</a:t>
            </a:r>
          </a:p>
        </p:txBody>
      </p:sp>
      <p:pic>
        <p:nvPicPr>
          <p:cNvPr id="3" name="Picture 2" descr="elbow_sil.png"/>
          <p:cNvPicPr>
            <a:picLocks noChangeAspect="1"/>
          </p:cNvPicPr>
          <p:nvPr/>
        </p:nvPicPr>
        <p:blipFill>
          <a:blip r:embed="rId2"/>
          <a:stretch>
            <a:fillRect/>
          </a:stretch>
        </p:blipFill>
        <p:spPr>
          <a:xfrm>
            <a:off x="678884" y="1223340"/>
            <a:ext cx="10834234" cy="3858234"/>
          </a:xfrm>
          <a:prstGeom prst="rect">
            <a:avLst/>
          </a:prstGeom>
        </p:spPr>
      </p:pic>
      <p:sp>
        <p:nvSpPr>
          <p:cNvPr id="4" name="TextBox 3"/>
          <p:cNvSpPr txBox="1"/>
          <p:nvPr/>
        </p:nvSpPr>
        <p:spPr>
          <a:xfrm>
            <a:off x="678884" y="5078114"/>
            <a:ext cx="10834234" cy="923330"/>
          </a:xfrm>
          <a:prstGeom prst="rect">
            <a:avLst/>
          </a:prstGeom>
          <a:noFill/>
        </p:spPr>
        <p:txBody>
          <a:bodyPr wrap="square" lIns="91440" tIns="0" rIns="91440" bIns="0" anchor="t">
            <a:spAutoFit/>
          </a:bodyPr>
          <a:lstStyle/>
          <a:p>
            <a:r>
              <a:rPr lang="en-US" sz="2000" i="1">
                <a:solidFill>
                  <a:schemeClr val="bg2">
                    <a:lumMod val="10000"/>
                  </a:schemeClr>
                </a:solidFill>
              </a:rPr>
              <a:t>Inertia</a:t>
            </a:r>
            <a:r>
              <a:rPr sz="2000" i="1">
                <a:solidFill>
                  <a:schemeClr val="bg2">
                    <a:lumMod val="10000"/>
                  </a:schemeClr>
                </a:solidFill>
              </a:rPr>
              <a:t> keeps falling as K increases with no sharp elbow, but the silhouette score peaks distinctly at K = 4 (after the trivial K = 2 split), confirming 4 is the </a:t>
            </a:r>
            <a:r>
              <a:rPr sz="2000" i="1" dirty="0">
                <a:solidFill>
                  <a:schemeClr val="bg2">
                    <a:lumMod val="10000"/>
                  </a:schemeClr>
                </a:solidFill>
              </a:rPr>
              <a:t>number of genuinely distinct customer groups hiding in the data.</a:t>
            </a:r>
            <a:endParaRPr lang="en-US" sz="2000" i="1">
              <a:solidFill>
                <a:schemeClr val="bg2">
                  <a:lumMod val="10000"/>
                </a:schemeClr>
              </a:solidFill>
              <a:ea typeface="Calibri"/>
              <a:cs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Four Algorithms, Head to Head</a:t>
            </a:r>
          </a:p>
        </p:txBody>
      </p:sp>
      <p:pic>
        <p:nvPicPr>
          <p:cNvPr id="3" name="Picture 2" descr="clustering_comparison.png"/>
          <p:cNvPicPr>
            <a:picLocks noChangeAspect="1"/>
          </p:cNvPicPr>
          <p:nvPr/>
        </p:nvPicPr>
        <p:blipFill>
          <a:blip r:embed="rId2"/>
          <a:stretch>
            <a:fillRect/>
          </a:stretch>
        </p:blipFill>
        <p:spPr>
          <a:xfrm>
            <a:off x="678884" y="1218370"/>
            <a:ext cx="10834234" cy="3374690"/>
          </a:xfrm>
          <a:prstGeom prst="rect">
            <a:avLst/>
          </a:prstGeom>
        </p:spPr>
      </p:pic>
      <p:sp>
        <p:nvSpPr>
          <p:cNvPr id="4" name="TextBox 3"/>
          <p:cNvSpPr txBox="1"/>
          <p:nvPr/>
        </p:nvSpPr>
        <p:spPr>
          <a:xfrm>
            <a:off x="678884" y="4991029"/>
            <a:ext cx="10834234" cy="923330"/>
          </a:xfrm>
          <a:prstGeom prst="rect">
            <a:avLst/>
          </a:prstGeom>
          <a:noFill/>
        </p:spPr>
        <p:txBody>
          <a:bodyPr wrap="square" lIns="91440" tIns="0" rIns="91440" bIns="0" anchor="t">
            <a:spAutoFit/>
          </a:bodyPr>
          <a:lstStyle/>
          <a:p>
            <a:r>
              <a:rPr sz="2000" i="1">
                <a:solidFill>
                  <a:schemeClr val="bg2">
                    <a:lumMod val="10000"/>
                  </a:schemeClr>
                </a:solidFill>
              </a:rPr>
              <a:t>K-Means produces the best-separated, most compact clusters on all three metrics simultaneously, Hierarchical is a close second, DBSCAN collapses to a single </a:t>
            </a:r>
            <a:r>
              <a:rPr sz="2000" i="1" dirty="0">
                <a:solidFill>
                  <a:schemeClr val="bg2">
                    <a:lumMod val="10000"/>
                  </a:schemeClr>
                </a:solidFill>
              </a:rPr>
              <a:t>noisy cluster (it can't handle this feature space), and GMM produces the weakest, most overlapping groups.</a:t>
            </a:r>
            <a:endParaRPr lang="en-US" sz="2000" i="1">
              <a:solidFill>
                <a:schemeClr val="bg2">
                  <a:lumMod val="10000"/>
                </a:schemeClr>
              </a:solidFill>
              <a:ea typeface="Calibri"/>
              <a:cs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Clustering Evaluation Metrics</a:t>
            </a:r>
          </a:p>
        </p:txBody>
      </p:sp>
      <p:pic>
        <p:nvPicPr>
          <p:cNvPr id="3" name="Picture 2" descr="cluster_metrics_screenshot.png"/>
          <p:cNvPicPr>
            <a:picLocks noChangeAspect="1"/>
          </p:cNvPicPr>
          <p:nvPr/>
        </p:nvPicPr>
        <p:blipFill>
          <a:blip r:embed="rId2"/>
          <a:stretch>
            <a:fillRect/>
          </a:stretch>
        </p:blipFill>
        <p:spPr>
          <a:xfrm>
            <a:off x="678884" y="1717308"/>
            <a:ext cx="10834234" cy="2697442"/>
          </a:xfrm>
          <a:prstGeom prst="rect">
            <a:avLst/>
          </a:prstGeom>
        </p:spPr>
      </p:pic>
      <p:sp>
        <p:nvSpPr>
          <p:cNvPr id="4" name="TextBox 3"/>
          <p:cNvSpPr txBox="1"/>
          <p:nvPr/>
        </p:nvSpPr>
        <p:spPr>
          <a:xfrm>
            <a:off x="678884" y="4789143"/>
            <a:ext cx="10834234" cy="923330"/>
          </a:xfrm>
          <a:prstGeom prst="rect">
            <a:avLst/>
          </a:prstGeom>
          <a:noFill/>
        </p:spPr>
        <p:txBody>
          <a:bodyPr wrap="square" lIns="91440" tIns="0" rIns="91440" bIns="0" anchor="t">
            <a:spAutoFit/>
          </a:bodyPr>
          <a:lstStyle/>
          <a:p>
            <a:r>
              <a:rPr sz="2000" i="1" dirty="0">
                <a:solidFill>
                  <a:schemeClr val="bg2">
                    <a:lumMod val="10000"/>
                  </a:schemeClr>
                </a:solidFill>
              </a:rPr>
              <a:t> K-Means is the clear winner, a Silhouette Score of 0.498 signals genuinely well-separated clusters, and 0% noise points means every single customer was confidently assigned to a segment, nobody is left unclassified.</a:t>
            </a:r>
            <a:endParaRPr lang="en-US" sz="2000" i="1">
              <a:solidFill>
                <a:schemeClr val="bg2">
                  <a:lumMod val="10000"/>
                </a:schemeClr>
              </a:solidFill>
              <a:ea typeface="Calibri"/>
              <a:cs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Visualizing the Clusters (PCA)</a:t>
            </a:r>
          </a:p>
        </p:txBody>
      </p:sp>
      <p:pic>
        <p:nvPicPr>
          <p:cNvPr id="3" name="Picture 2" descr="pca_clusters.png"/>
          <p:cNvPicPr>
            <a:picLocks noChangeAspect="1"/>
          </p:cNvPicPr>
          <p:nvPr/>
        </p:nvPicPr>
        <p:blipFill>
          <a:blip r:embed="rId2"/>
          <a:stretch>
            <a:fillRect/>
          </a:stretch>
        </p:blipFill>
        <p:spPr>
          <a:xfrm>
            <a:off x="1192204" y="1216971"/>
            <a:ext cx="9807594" cy="3900000"/>
          </a:xfrm>
          <a:prstGeom prst="rect">
            <a:avLst/>
          </a:prstGeom>
        </p:spPr>
      </p:pic>
      <p:sp>
        <p:nvSpPr>
          <p:cNvPr id="4" name="TextBox 3"/>
          <p:cNvSpPr txBox="1"/>
          <p:nvPr/>
        </p:nvSpPr>
        <p:spPr>
          <a:xfrm>
            <a:off x="678884" y="5114400"/>
            <a:ext cx="10834234" cy="923330"/>
          </a:xfrm>
          <a:prstGeom prst="rect">
            <a:avLst/>
          </a:prstGeom>
          <a:noFill/>
        </p:spPr>
        <p:txBody>
          <a:bodyPr wrap="square" lIns="91440" tIns="0" rIns="91440" bIns="0" anchor="t">
            <a:spAutoFit/>
          </a:bodyPr>
          <a:lstStyle/>
          <a:p>
            <a:r>
              <a:rPr sz="2000" i="1">
                <a:solidFill>
                  <a:schemeClr val="bg2">
                    <a:lumMod val="10000"/>
                  </a:schemeClr>
                </a:solidFill>
              </a:rPr>
              <a:t>K-Means carves out 4 tight, mostly non-overlapping groups even after compressing 8 features down to 2 dimensions, while GMM's clusters visibly bleed into </a:t>
            </a:r>
            <a:r>
              <a:rPr sz="2000" i="1" dirty="0">
                <a:solidFill>
                  <a:schemeClr val="bg2">
                    <a:lumMod val="10000"/>
                  </a:schemeClr>
                </a:solidFill>
              </a:rPr>
              <a:t>each other, visual confirmation that K-Means found the more genuine underlying structure.</a:t>
            </a:r>
            <a:endParaRPr lang="en-US" sz="2000" i="1">
              <a:solidFill>
                <a:schemeClr val="bg2">
                  <a:lumMod val="10000"/>
                </a:schemeClr>
              </a:solidFill>
              <a:ea typeface="Calibri"/>
              <a:cs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Turning Clusters into Business Segments</a:t>
            </a:r>
          </a:p>
        </p:txBody>
      </p:sp>
      <p:sp>
        <p:nvSpPr>
          <p:cNvPr id="3" name="Content Placeholder 2"/>
          <p:cNvSpPr>
            <a:spLocks noGrp="1"/>
          </p:cNvSpPr>
          <p:nvPr>
            <p:ph idx="1"/>
          </p:nvPr>
        </p:nvSpPr>
        <p:spPr/>
        <p:txBody>
          <a:bodyPr wrap="square"/>
          <a:lstStyle/>
          <a:p>
            <a:r>
              <a:rPr sz="1800" b="0">
                <a:solidFill>
                  <a:srgbClr val="1A1A1A"/>
                </a:solidFill>
              </a:rPr>
              <a:t>Each of the 4 raw clusters is profiled on Recency, Frequency, Monetary and CLV, then automatically labelled by its behaviour:</a:t>
            </a:r>
          </a:p>
          <a:p>
            <a:r>
              <a:rPr sz="1800" b="1">
                <a:solidFill>
                  <a:srgbClr val="1A1A1A"/>
                </a:solidFill>
              </a:rPr>
              <a:t>Champions: most recent, most frequent, highest spend and CLV</a:t>
            </a:r>
          </a:p>
          <a:p>
            <a:r>
              <a:rPr sz="1800" b="1">
                <a:solidFill>
                  <a:srgbClr val="1A1A1A"/>
                </a:solidFill>
              </a:rPr>
              <a:t>Promising: recent, moderate frequency, healthy spend, building loyalty</a:t>
            </a:r>
          </a:p>
          <a:p>
            <a:r>
              <a:rPr sz="1800" b="1">
                <a:solidFill>
                  <a:srgbClr val="1A1A1A"/>
                </a:solidFill>
              </a:rPr>
              <a:t>At-Risk: slipping recency and spend, needs a nudge before they leave</a:t>
            </a:r>
          </a:p>
          <a:p>
            <a:r>
              <a:rPr sz="1800" b="1">
                <a:solidFill>
                  <a:srgbClr val="1A1A1A"/>
                </a:solidFill>
              </a:rPr>
              <a:t>Hibernating: long time since last purchase, low engagement</a:t>
            </a:r>
          </a:p>
          <a:p>
            <a:r>
              <a:rPr sz="1800" b="0">
                <a:solidFill>
                  <a:srgbClr val="1A1A1A"/>
                </a:solidFill>
              </a:rPr>
              <a:t>How to read it: Low Recency = good, High Frequency = good, High Monetary = good.</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0713" y="117437"/>
            <a:ext cx="10834234" cy="612775"/>
          </a:xfrm>
        </p:spPr>
        <p:txBody>
          <a:bodyPr/>
          <a:lstStyle/>
          <a:p>
            <a:r>
              <a:t>Segment Profiles at a Glance</a:t>
            </a:r>
          </a:p>
        </p:txBody>
      </p:sp>
      <p:pic>
        <p:nvPicPr>
          <p:cNvPr id="3" name="Picture 2" descr="segment_profiles.png"/>
          <p:cNvPicPr>
            <a:picLocks noChangeAspect="1"/>
          </p:cNvPicPr>
          <p:nvPr/>
        </p:nvPicPr>
        <p:blipFill>
          <a:blip r:embed="rId2"/>
          <a:stretch>
            <a:fillRect/>
          </a:stretch>
        </p:blipFill>
        <p:spPr>
          <a:xfrm>
            <a:off x="1897086" y="730742"/>
            <a:ext cx="8180114" cy="4560400"/>
          </a:xfrm>
          <a:prstGeom prst="rect">
            <a:avLst/>
          </a:prstGeom>
        </p:spPr>
      </p:pic>
      <p:sp>
        <p:nvSpPr>
          <p:cNvPr id="4" name="TextBox 3"/>
          <p:cNvSpPr txBox="1"/>
          <p:nvPr/>
        </p:nvSpPr>
        <p:spPr>
          <a:xfrm>
            <a:off x="678884" y="5288571"/>
            <a:ext cx="10834234" cy="923330"/>
          </a:xfrm>
          <a:prstGeom prst="rect">
            <a:avLst/>
          </a:prstGeom>
          <a:noFill/>
        </p:spPr>
        <p:txBody>
          <a:bodyPr wrap="square" lIns="91440" tIns="0" rIns="91440" bIns="0" anchor="t">
            <a:spAutoFit/>
          </a:bodyPr>
          <a:lstStyle/>
          <a:p>
            <a:r>
              <a:rPr lang="en-US" sz="2000" i="1">
                <a:solidFill>
                  <a:schemeClr val="bg2">
                    <a:lumMod val="10000"/>
                  </a:schemeClr>
                </a:solidFill>
              </a:rPr>
              <a:t>One</a:t>
            </a:r>
            <a:r>
              <a:rPr sz="2000" i="1">
                <a:solidFill>
                  <a:schemeClr val="bg2">
                    <a:lumMod val="10000"/>
                  </a:schemeClr>
                </a:solidFill>
              </a:rPr>
              <a:t> segment (Champions) dominates every single metric at once, recency, frequency, spend and product breadth all move together, while another </a:t>
            </a:r>
            <a:r>
              <a:rPr sz="2000" i="1" dirty="0">
                <a:solidFill>
                  <a:schemeClr val="bg2">
                    <a:lumMod val="10000"/>
                  </a:schemeClr>
                </a:solidFill>
              </a:rPr>
              <a:t>(Hibernating) trails on all of them, confirming these are four genuinely distinct customer personas, not four random buckets.</a:t>
            </a:r>
            <a:endParaRPr lang="en-US" sz="2000" i="1">
              <a:solidFill>
                <a:schemeClr val="bg2">
                  <a:lumMod val="10000"/>
                </a:schemeClr>
              </a:solidFill>
              <a:ea typeface="Calibri"/>
              <a:cs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Meet the Four Segments</a:t>
            </a:r>
          </a:p>
        </p:txBody>
      </p:sp>
      <p:sp>
        <p:nvSpPr>
          <p:cNvPr id="3" name="Content Placeholder 2"/>
          <p:cNvSpPr>
            <a:spLocks noGrp="1"/>
          </p:cNvSpPr>
          <p:nvPr>
            <p:ph idx="1"/>
          </p:nvPr>
        </p:nvSpPr>
        <p:spPr/>
        <p:txBody>
          <a:bodyPr wrap="square"/>
          <a:lstStyle/>
          <a:p>
            <a:r>
              <a:rPr sz="1800" b="1">
                <a:solidFill>
                  <a:srgbClr val="1A1A1A"/>
                </a:solidFill>
              </a:rPr>
              <a:t>Champions: 92 customers, GBP 1,449,143 total revenue</a:t>
            </a:r>
          </a:p>
          <a:p>
            <a:r>
              <a:rPr sz="1800" b="1">
                <a:solidFill>
                  <a:srgbClr val="1A1A1A"/>
                </a:solidFill>
              </a:rPr>
              <a:t>Promising: 828 customers, GBP 3,192,253 total revenue</a:t>
            </a:r>
          </a:p>
          <a:p>
            <a:r>
              <a:rPr sz="1800" b="1">
                <a:solidFill>
                  <a:srgbClr val="1A1A1A"/>
                </a:solidFill>
              </a:rPr>
              <a:t>At-Risk: 2,333 customers, GBP 1,839,920 total revenue</a:t>
            </a:r>
          </a:p>
          <a:p>
            <a:r>
              <a:rPr sz="1800" b="1">
                <a:solidFill>
                  <a:srgbClr val="1A1A1A"/>
                </a:solidFill>
              </a:rPr>
              <a:t>Hibernating: 1,085 customers, GBP 426,766 total revenue</a:t>
            </a:r>
          </a:p>
          <a:p>
            <a:r>
              <a:rPr sz="1800" b="0">
                <a:solidFill>
                  <a:srgbClr val="1A1A1A"/>
                </a:solidFill>
              </a:rPr>
              <a:t>A tiny group of 92 Champions (about 2% of customers) sits alongside 3,418 At-Risk and Hibernating customers who together still generate over GBP 2.2M, proof that segmentation, not one-size-fits-all marketing, is where the value is.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Customer and Revenue Split by Segment</a:t>
            </a:r>
          </a:p>
        </p:txBody>
      </p:sp>
      <p:pic>
        <p:nvPicPr>
          <p:cNvPr id="3" name="Picture 2" descr="segment_dist.png"/>
          <p:cNvPicPr>
            <a:picLocks noChangeAspect="1"/>
          </p:cNvPicPr>
          <p:nvPr/>
        </p:nvPicPr>
        <p:blipFill>
          <a:blip r:embed="rId2"/>
          <a:stretch>
            <a:fillRect/>
          </a:stretch>
        </p:blipFill>
        <p:spPr>
          <a:xfrm>
            <a:off x="1724271" y="1216971"/>
            <a:ext cx="8743459" cy="3900000"/>
          </a:xfrm>
          <a:prstGeom prst="rect">
            <a:avLst/>
          </a:prstGeom>
        </p:spPr>
      </p:pic>
      <p:sp>
        <p:nvSpPr>
          <p:cNvPr id="4" name="TextBox 3"/>
          <p:cNvSpPr txBox="1"/>
          <p:nvPr/>
        </p:nvSpPr>
        <p:spPr>
          <a:xfrm>
            <a:off x="678884" y="5237771"/>
            <a:ext cx="10834234" cy="923330"/>
          </a:xfrm>
          <a:prstGeom prst="rect">
            <a:avLst/>
          </a:prstGeom>
          <a:noFill/>
        </p:spPr>
        <p:txBody>
          <a:bodyPr wrap="square" lIns="91440" tIns="0" rIns="91440" bIns="0" anchor="t">
            <a:spAutoFit/>
          </a:bodyPr>
          <a:lstStyle/>
          <a:p>
            <a:r>
              <a:rPr sz="2000" i="1">
                <a:solidFill>
                  <a:schemeClr val="bg2">
                    <a:lumMod val="10000"/>
                  </a:schemeClr>
                </a:solidFill>
              </a:rPr>
              <a:t>At-Risk customers are over half the customer base (53.8%) but Promising customers, a much smaller group, generate the single largest slice of revenue, proof </a:t>
            </a:r>
            <a:r>
              <a:rPr sz="2000" i="1" dirty="0">
                <a:solidFill>
                  <a:schemeClr val="bg2">
                    <a:lumMod val="10000"/>
                  </a:schemeClr>
                </a:solidFill>
              </a:rPr>
              <a:t>that customer count and customer value are not the same thing, and budget should follow value, not headcount.</a:t>
            </a:r>
            <a:endParaRPr lang="en-US" sz="2000" i="1">
              <a:solidFill>
                <a:schemeClr val="bg2">
                  <a:lumMod val="10000"/>
                </a:schemeClr>
              </a:solidFill>
              <a:ea typeface="Calibri"/>
              <a:cs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8883" y="-939119"/>
            <a:ext cx="10834234" cy="2852737"/>
          </a:xfrm>
        </p:spPr>
        <p:txBody>
          <a:bodyPr/>
          <a:lstStyle/>
          <a:p>
            <a:r>
              <a:t>Predicting the Segment</a:t>
            </a:r>
          </a:p>
        </p:txBody>
      </p:sp>
      <p:sp>
        <p:nvSpPr>
          <p:cNvPr id="3" name="Text Placeholder 2"/>
          <p:cNvSpPr>
            <a:spLocks noGrp="1"/>
          </p:cNvSpPr>
          <p:nvPr>
            <p:ph type="body" idx="1"/>
          </p:nvPr>
        </p:nvSpPr>
        <p:spPr>
          <a:xfrm>
            <a:off x="678883" y="2434093"/>
            <a:ext cx="10834234" cy="1500187"/>
          </a:xfrm>
        </p:spPr>
        <p:txBody>
          <a:bodyPr vert="horz" lIns="91440" tIns="45720" rIns="91440" bIns="45720" rtlCol="0" anchor="t">
            <a:normAutofit/>
          </a:bodyPr>
          <a:lstStyle/>
          <a:p>
            <a:r>
              <a:rPr>
                <a:solidFill>
                  <a:schemeClr val="bg2">
                    <a:lumMod val="10000"/>
                  </a:schemeClr>
                </a:solidFill>
                <a:latin typeface="Calibri"/>
                <a:ea typeface="Calibri"/>
                <a:cs typeface="Calibri"/>
              </a:rPr>
              <a:t>Training a classifier so any customer, existing or brand new, can be scored instantly</a:t>
            </a:r>
            <a:endParaRPr lang="en-US">
              <a:solidFill>
                <a:schemeClr val="bg2">
                  <a:lumMod val="10000"/>
                </a:schemeClr>
              </a:solidFill>
              <a:latin typeface="Calibri"/>
              <a:ea typeface="Calibri"/>
              <a:cs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Add a Classifier?</a:t>
            </a:r>
          </a:p>
        </p:txBody>
      </p:sp>
      <p:sp>
        <p:nvSpPr>
          <p:cNvPr id="3" name="Content Placeholder 2"/>
          <p:cNvSpPr>
            <a:spLocks noGrp="1"/>
          </p:cNvSpPr>
          <p:nvPr>
            <p:ph idx="1"/>
          </p:nvPr>
        </p:nvSpPr>
        <p:spPr/>
        <p:txBody>
          <a:bodyPr wrap="square"/>
          <a:lstStyle/>
          <a:p>
            <a:r>
              <a:rPr sz="1900" b="0">
                <a:solidFill>
                  <a:srgbClr val="1A1A1A"/>
                </a:solidFill>
              </a:rPr>
              <a:t>Clustering only labels the customers we already have, it can't score a brand-new signup on day one.</a:t>
            </a:r>
          </a:p>
          <a:p>
            <a:r>
              <a:rPr sz="1900" b="1">
                <a:solidFill>
                  <a:srgbClr val="1A1A1A"/>
                </a:solidFill>
              </a:rPr>
              <a:t>Solution: use the cluster labels as the TARGET and train a supervised classifier that learns to predict segment membership from RFM features alone.</a:t>
            </a:r>
          </a:p>
          <a:p>
            <a:r>
              <a:rPr sz="1900" b="0">
                <a:solidFill>
                  <a:srgbClr val="1A1A1A"/>
                </a:solidFill>
              </a:rPr>
              <a:t>Data split 80/20: 3,470 customers to train, 868 held out to test</a:t>
            </a:r>
          </a:p>
          <a:p>
            <a:r>
              <a:rPr sz="1900" b="1">
                <a:solidFill>
                  <a:srgbClr val="1A1A1A"/>
                </a:solidFill>
              </a:rPr>
              <a:t>Six algorithms trained and compared:</a:t>
            </a:r>
          </a:p>
          <a:p>
            <a:pPr lvl="1"/>
            <a:r>
              <a:rPr sz="1700" b="0">
                <a:solidFill>
                  <a:srgbClr val="1A1A1A"/>
                </a:solidFill>
              </a:rPr>
              <a:t>Random Forest, XGBoost, Gradient Boosting, SVM, KNN, Logistic Regression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Six Classifiers, Head to Head</a:t>
            </a:r>
          </a:p>
        </p:txBody>
      </p:sp>
      <p:pic>
        <p:nvPicPr>
          <p:cNvPr id="3" name="Picture 2" descr="clf_comparison.png"/>
          <p:cNvPicPr>
            <a:picLocks noChangeAspect="1"/>
          </p:cNvPicPr>
          <p:nvPr/>
        </p:nvPicPr>
        <p:blipFill>
          <a:blip r:embed="rId2"/>
          <a:stretch>
            <a:fillRect/>
          </a:stretch>
        </p:blipFill>
        <p:spPr>
          <a:xfrm>
            <a:off x="1498193" y="1216971"/>
            <a:ext cx="9195615" cy="3900000"/>
          </a:xfrm>
          <a:prstGeom prst="rect">
            <a:avLst/>
          </a:prstGeom>
        </p:spPr>
      </p:pic>
      <p:sp>
        <p:nvSpPr>
          <p:cNvPr id="4" name="TextBox 3"/>
          <p:cNvSpPr txBox="1"/>
          <p:nvPr/>
        </p:nvSpPr>
        <p:spPr>
          <a:xfrm>
            <a:off x="686141" y="5114400"/>
            <a:ext cx="10834234" cy="923330"/>
          </a:xfrm>
          <a:prstGeom prst="rect">
            <a:avLst/>
          </a:prstGeom>
          <a:noFill/>
        </p:spPr>
        <p:txBody>
          <a:bodyPr wrap="square" lIns="91440" tIns="0" rIns="91440" bIns="0" anchor="t">
            <a:spAutoFit/>
          </a:bodyPr>
          <a:lstStyle/>
          <a:p>
            <a:r>
              <a:rPr lang="en-US" sz="2000" i="1">
                <a:solidFill>
                  <a:schemeClr val="bg2">
                    <a:lumMod val="10000"/>
                  </a:schemeClr>
                </a:solidFill>
              </a:rPr>
              <a:t>Every</a:t>
            </a:r>
            <a:r>
              <a:rPr sz="2000" i="1" dirty="0">
                <a:solidFill>
                  <a:schemeClr val="bg2">
                    <a:lumMod val="10000"/>
                  </a:schemeClr>
                </a:solidFill>
              </a:rPr>
              <a:t> one of the six algorithms clears 97% accuracy on this task, meaning the RFM features are extremely predictive of segment membership, SVM and Logistic Regression edge out the tree-based models, showing the segment boundaries are close to linearly separable once features are scaled.</a:t>
            </a:r>
            <a:endParaRPr lang="en-US" sz="2000" i="1">
              <a:solidFill>
                <a:schemeClr val="bg2">
                  <a:lumMod val="10000"/>
                </a:schemeClr>
              </a:solidFill>
              <a:ea typeface="Calibri"/>
              <a:cs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Classification Evaluation Metrics</a:t>
            </a:r>
          </a:p>
        </p:txBody>
      </p:sp>
      <p:pic>
        <p:nvPicPr>
          <p:cNvPr id="3" name="Picture 2" descr="clf_metrics_screenshot.png"/>
          <p:cNvPicPr>
            <a:picLocks noChangeAspect="1"/>
          </p:cNvPicPr>
          <p:nvPr/>
        </p:nvPicPr>
        <p:blipFill>
          <a:blip r:embed="rId2"/>
          <a:stretch>
            <a:fillRect/>
          </a:stretch>
        </p:blipFill>
        <p:spPr>
          <a:xfrm>
            <a:off x="678884" y="1785610"/>
            <a:ext cx="10834234" cy="3328779"/>
          </a:xfrm>
          <a:prstGeom prst="rect">
            <a:avLst/>
          </a:prstGeom>
        </p:spPr>
      </p:pic>
      <p:sp>
        <p:nvSpPr>
          <p:cNvPr id="4" name="TextBox 3"/>
          <p:cNvSpPr txBox="1"/>
          <p:nvPr/>
        </p:nvSpPr>
        <p:spPr>
          <a:xfrm>
            <a:off x="678884" y="5223257"/>
            <a:ext cx="10834234" cy="923330"/>
          </a:xfrm>
          <a:prstGeom prst="rect">
            <a:avLst/>
          </a:prstGeom>
          <a:noFill/>
        </p:spPr>
        <p:txBody>
          <a:bodyPr wrap="square" lIns="91440" tIns="0" rIns="91440" bIns="0" anchor="t">
            <a:spAutoFit/>
          </a:bodyPr>
          <a:lstStyle/>
          <a:p>
            <a:r>
              <a:rPr lang="en-US" sz="2000" i="1" dirty="0">
                <a:solidFill>
                  <a:schemeClr val="bg2">
                    <a:lumMod val="10000"/>
                  </a:schemeClr>
                </a:solidFill>
              </a:rPr>
              <a:t>SVM</a:t>
            </a:r>
            <a:r>
              <a:rPr sz="2000" i="1" dirty="0">
                <a:solidFill>
                  <a:schemeClr val="bg2">
                    <a:lumMod val="10000"/>
                  </a:schemeClr>
                </a:solidFill>
              </a:rPr>
              <a:t> not only scores highest on the held-out test set but also on 5-fold cross-validation (99.15%), meaning its performance is stable and not a lucky split, giving confidence it will </a:t>
            </a:r>
            <a:r>
              <a:rPr sz="2000" i="1" dirty="0" err="1">
                <a:solidFill>
                  <a:schemeClr val="bg2">
                    <a:lumMod val="10000"/>
                  </a:schemeClr>
                </a:solidFill>
              </a:rPr>
              <a:t>generalise</a:t>
            </a:r>
            <a:r>
              <a:rPr sz="2000" i="1" dirty="0">
                <a:solidFill>
                  <a:schemeClr val="bg2">
                    <a:lumMod val="10000"/>
                  </a:schemeClr>
                </a:solidFill>
              </a:rPr>
              <a:t> well to brand-new customers in production.</a:t>
            </a:r>
            <a:endParaRPr lang="en-US" sz="2000" i="1">
              <a:solidFill>
                <a:schemeClr val="bg2">
                  <a:lumMod val="10000"/>
                </a:schemeClr>
              </a:solidFill>
              <a:ea typeface="Calibri"/>
              <a:cs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Confusion Matrix: Where Does the Model Get Confused?</a:t>
            </a:r>
          </a:p>
        </p:txBody>
      </p:sp>
      <p:pic>
        <p:nvPicPr>
          <p:cNvPr id="3" name="Picture 2" descr="confusion_matrix.png"/>
          <p:cNvPicPr>
            <a:picLocks noChangeAspect="1"/>
          </p:cNvPicPr>
          <p:nvPr/>
        </p:nvPicPr>
        <p:blipFill>
          <a:blip r:embed="rId2"/>
          <a:stretch>
            <a:fillRect/>
          </a:stretch>
        </p:blipFill>
        <p:spPr>
          <a:xfrm>
            <a:off x="3646779" y="1108114"/>
            <a:ext cx="4898444" cy="3900000"/>
          </a:xfrm>
          <a:prstGeom prst="rect">
            <a:avLst/>
          </a:prstGeom>
        </p:spPr>
      </p:pic>
      <p:sp>
        <p:nvSpPr>
          <p:cNvPr id="4" name="TextBox 3"/>
          <p:cNvSpPr txBox="1"/>
          <p:nvPr/>
        </p:nvSpPr>
        <p:spPr>
          <a:xfrm>
            <a:off x="678884" y="5186971"/>
            <a:ext cx="10834234" cy="923330"/>
          </a:xfrm>
          <a:prstGeom prst="rect">
            <a:avLst/>
          </a:prstGeom>
          <a:noFill/>
        </p:spPr>
        <p:txBody>
          <a:bodyPr wrap="square" lIns="91440" tIns="0" rIns="91440" bIns="0" anchor="t">
            <a:spAutoFit/>
          </a:bodyPr>
          <a:lstStyle/>
          <a:p>
            <a:r>
              <a:rPr lang="en-US" sz="2000" i="1" dirty="0">
                <a:solidFill>
                  <a:schemeClr val="bg2">
                    <a:lumMod val="10000"/>
                  </a:schemeClr>
                </a:solidFill>
              </a:rPr>
              <a:t>Almost</a:t>
            </a:r>
            <a:r>
              <a:rPr sz="2000" i="1" dirty="0">
                <a:solidFill>
                  <a:schemeClr val="bg2">
                    <a:lumMod val="10000"/>
                  </a:schemeClr>
                </a:solidFill>
              </a:rPr>
              <a:t> every prediction lands on the diagonal, the few mistakes the model makes are between Champions and Promising (</a:t>
            </a:r>
            <a:r>
              <a:rPr sz="2000" i="1" dirty="0" err="1">
                <a:solidFill>
                  <a:schemeClr val="bg2">
                    <a:lumMod val="10000"/>
                  </a:schemeClr>
                </a:solidFill>
              </a:rPr>
              <a:t>behaviourally</a:t>
            </a:r>
            <a:r>
              <a:rPr sz="2000" i="1" dirty="0">
                <a:solidFill>
                  <a:schemeClr val="bg2">
                    <a:lumMod val="10000"/>
                  </a:schemeClr>
                </a:solidFill>
              </a:rPr>
              <a:t> similar, high-value groups), never between opposite extremes like Champions and Hibernating, so even its errors are low-risk, sensible ones.</a:t>
            </a:r>
            <a:endParaRPr lang="en-US" sz="2000" i="1">
              <a:solidFill>
                <a:schemeClr val="bg2">
                  <a:lumMod val="10000"/>
                </a:schemeClr>
              </a:solidFill>
              <a:ea typeface="Calibri"/>
              <a:cs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8883" y="-1425348"/>
            <a:ext cx="10834234" cy="2852737"/>
          </a:xfrm>
        </p:spPr>
        <p:txBody>
          <a:bodyPr/>
          <a:lstStyle/>
          <a:p>
            <a:r>
              <a:t>From Model to Action</a:t>
            </a:r>
          </a:p>
        </p:txBody>
      </p:sp>
      <p:sp>
        <p:nvSpPr>
          <p:cNvPr id="3" name="Text Placeholder 2"/>
          <p:cNvSpPr>
            <a:spLocks noGrp="1"/>
          </p:cNvSpPr>
          <p:nvPr>
            <p:ph type="body" idx="1"/>
          </p:nvPr>
        </p:nvSpPr>
        <p:spPr>
          <a:xfrm>
            <a:off x="678883" y="2049464"/>
            <a:ext cx="10834234" cy="1500187"/>
          </a:xfrm>
        </p:spPr>
        <p:txBody>
          <a:bodyPr vert="horz" lIns="91440" tIns="45720" rIns="91440" bIns="45720" rtlCol="0" anchor="t">
            <a:normAutofit/>
          </a:bodyPr>
          <a:lstStyle/>
          <a:p>
            <a:r>
              <a:rPr dirty="0">
                <a:solidFill>
                  <a:schemeClr val="bg2">
                    <a:lumMod val="10000"/>
                  </a:schemeClr>
                </a:solidFill>
                <a:latin typeface="Calibri"/>
                <a:ea typeface="Calibri"/>
                <a:cs typeface="Calibri"/>
              </a:rPr>
              <a:t>What should marketing actually do with each segment?</a:t>
            </a:r>
            <a:endParaRPr lang="en-US">
              <a:solidFill>
                <a:schemeClr val="bg2">
                  <a:lumMod val="10000"/>
                </a:schemeClr>
              </a:solidFill>
              <a:latin typeface="Calibri"/>
              <a:ea typeface="Calibri"/>
              <a:cs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Champions and Promising: Grow the Relationship</a:t>
            </a:r>
          </a:p>
        </p:txBody>
      </p:sp>
      <p:sp>
        <p:nvSpPr>
          <p:cNvPr id="3" name="Content Placeholder 2"/>
          <p:cNvSpPr>
            <a:spLocks noGrp="1"/>
          </p:cNvSpPr>
          <p:nvPr>
            <p:ph idx="1"/>
          </p:nvPr>
        </p:nvSpPr>
        <p:spPr/>
        <p:txBody>
          <a:bodyPr vert="horz" wrap="square" lIns="91440" tIns="45720" rIns="91440" bIns="45720" rtlCol="0" anchor="t">
            <a:normAutofit/>
          </a:bodyPr>
          <a:lstStyle/>
          <a:p>
            <a:r>
              <a:rPr sz="2000" b="1">
                <a:solidFill>
                  <a:srgbClr val="1A1A1A"/>
                </a:solidFill>
                <a:latin typeface="Calibri"/>
                <a:ea typeface="Calibri"/>
                <a:cs typeface="Calibri"/>
              </a:rPr>
              <a:t>Champions (92 customers, GBP 1.45M revenue): Reward and Retain</a:t>
            </a:r>
            <a:endParaRPr lang="en-US" sz="2000" b="1">
              <a:solidFill>
                <a:srgbClr val="1A1A1A"/>
              </a:solidFill>
              <a:latin typeface="Calibri"/>
              <a:ea typeface="Calibri"/>
              <a:cs typeface="Calibri"/>
            </a:endParaRPr>
          </a:p>
          <a:p>
            <a:pPr lvl="1"/>
            <a:r>
              <a:rPr sz="2000" b="0" dirty="0">
                <a:solidFill>
                  <a:srgbClr val="1A1A1A"/>
                </a:solidFill>
                <a:latin typeface="Calibri"/>
                <a:ea typeface="Calibri"/>
                <a:cs typeface="Calibri"/>
              </a:rPr>
              <a:t>VIP loyalty </a:t>
            </a:r>
            <a:r>
              <a:rPr sz="2000" b="0" dirty="0" err="1">
                <a:solidFill>
                  <a:srgbClr val="1A1A1A"/>
                </a:solidFill>
                <a:latin typeface="Calibri"/>
                <a:ea typeface="Calibri"/>
                <a:cs typeface="Calibri"/>
              </a:rPr>
              <a:t>programme</a:t>
            </a:r>
            <a:r>
              <a:rPr sz="2000" b="0" dirty="0">
                <a:solidFill>
                  <a:srgbClr val="1A1A1A"/>
                </a:solidFill>
                <a:latin typeface="Calibri"/>
                <a:ea typeface="Calibri"/>
                <a:cs typeface="Calibri"/>
              </a:rPr>
              <a:t> with tiered rewards</a:t>
            </a:r>
          </a:p>
          <a:p>
            <a:pPr lvl="1"/>
            <a:r>
              <a:rPr sz="2000" b="0">
                <a:solidFill>
                  <a:srgbClr val="1A1A1A"/>
                </a:solidFill>
                <a:latin typeface="Calibri"/>
                <a:ea typeface="Calibri"/>
                <a:cs typeface="Calibri"/>
              </a:rPr>
              <a:t>Early access to new products and exclusive deals</a:t>
            </a:r>
            <a:endParaRPr sz="2000" b="0" dirty="0">
              <a:solidFill>
                <a:srgbClr val="1A1A1A"/>
              </a:solidFill>
              <a:latin typeface="Calibri"/>
              <a:ea typeface="Calibri"/>
              <a:cs typeface="Calibri"/>
            </a:endParaRPr>
          </a:p>
          <a:p>
            <a:pPr lvl="1"/>
            <a:r>
              <a:rPr sz="2000" b="0">
                <a:solidFill>
                  <a:srgbClr val="1A1A1A"/>
                </a:solidFill>
                <a:latin typeface="Calibri"/>
                <a:ea typeface="Calibri"/>
                <a:cs typeface="Calibri"/>
              </a:rPr>
              <a:t>Ask for reviews and referrals with bonus credits</a:t>
            </a:r>
            <a:endParaRPr sz="2000" b="0" dirty="0">
              <a:solidFill>
                <a:srgbClr val="1A1A1A"/>
              </a:solidFill>
              <a:latin typeface="Calibri"/>
              <a:ea typeface="Calibri"/>
              <a:cs typeface="Calibri"/>
            </a:endParaRPr>
          </a:p>
          <a:p>
            <a:endParaRPr lang="en-US" sz="2000" b="1" dirty="0">
              <a:solidFill>
                <a:srgbClr val="1A1A1A"/>
              </a:solidFill>
              <a:latin typeface="Calibri"/>
              <a:ea typeface="Calibri"/>
              <a:cs typeface="Calibri"/>
            </a:endParaRPr>
          </a:p>
          <a:p>
            <a:endParaRPr lang="en-US" sz="2000" b="1" dirty="0">
              <a:solidFill>
                <a:srgbClr val="1A1A1A"/>
              </a:solidFill>
              <a:latin typeface="Calibri"/>
              <a:ea typeface="Calibri"/>
              <a:cs typeface="Calibri"/>
            </a:endParaRPr>
          </a:p>
          <a:p>
            <a:r>
              <a:rPr sz="2000" b="1">
                <a:solidFill>
                  <a:srgbClr val="1A1A1A"/>
                </a:solidFill>
                <a:latin typeface="Calibri"/>
                <a:ea typeface="Calibri"/>
                <a:cs typeface="Calibri"/>
              </a:rPr>
              <a:t>Promising (828 customers, GBP 3.19M revenue): Nurture and Develop</a:t>
            </a:r>
            <a:endParaRPr>
              <a:ea typeface="Calibri"/>
              <a:cs typeface="Calibri"/>
            </a:endParaRPr>
          </a:p>
          <a:p>
            <a:pPr lvl="1"/>
            <a:r>
              <a:rPr sz="2000" b="0" dirty="0" err="1">
                <a:solidFill>
                  <a:srgbClr val="1A1A1A"/>
                </a:solidFill>
                <a:latin typeface="Calibri"/>
                <a:ea typeface="Calibri"/>
                <a:cs typeface="Calibri"/>
              </a:rPr>
              <a:t>Personalised</a:t>
            </a:r>
            <a:r>
              <a:rPr sz="2000" b="0" dirty="0">
                <a:solidFill>
                  <a:srgbClr val="1A1A1A"/>
                </a:solidFill>
                <a:latin typeface="Calibri"/>
                <a:ea typeface="Calibri"/>
                <a:cs typeface="Calibri"/>
              </a:rPr>
              <a:t> onboarding email series</a:t>
            </a:r>
          </a:p>
          <a:p>
            <a:pPr lvl="1"/>
            <a:r>
              <a:rPr sz="2000" b="0">
                <a:solidFill>
                  <a:srgbClr val="1A1A1A"/>
                </a:solidFill>
                <a:latin typeface="Calibri"/>
                <a:ea typeface="Calibri"/>
                <a:cs typeface="Calibri"/>
              </a:rPr>
              <a:t>Bundle cross-sell offers to lift average order value</a:t>
            </a:r>
            <a:endParaRPr sz="2000" b="0" dirty="0">
              <a:solidFill>
                <a:srgbClr val="1A1A1A"/>
              </a:solidFill>
              <a:latin typeface="Calibri"/>
              <a:ea typeface="Calibri"/>
              <a:cs typeface="Calibri"/>
            </a:endParaRPr>
          </a:p>
          <a:p>
            <a:pPr lvl="1"/>
            <a:r>
              <a:rPr sz="2000" b="0">
                <a:solidFill>
                  <a:srgbClr val="1A1A1A"/>
                </a:solidFill>
                <a:latin typeface="Calibri"/>
                <a:ea typeface="Calibri"/>
                <a:cs typeface="Calibri"/>
              </a:rPr>
              <a:t>First-time discount on a complementary category</a:t>
            </a:r>
            <a:endParaRPr sz="2000" b="0" dirty="0">
              <a:solidFill>
                <a:srgbClr val="1A1A1A"/>
              </a:solidFill>
              <a:latin typeface="Calibri"/>
              <a:ea typeface="Calibri"/>
              <a:cs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At-Risk and Hibernating: Win Them Back</a:t>
            </a:r>
          </a:p>
        </p:txBody>
      </p:sp>
      <p:sp>
        <p:nvSpPr>
          <p:cNvPr id="3" name="Content Placeholder 2"/>
          <p:cNvSpPr>
            <a:spLocks noGrp="1"/>
          </p:cNvSpPr>
          <p:nvPr>
            <p:ph idx="1"/>
          </p:nvPr>
        </p:nvSpPr>
        <p:spPr/>
        <p:txBody>
          <a:bodyPr vert="horz" wrap="square" lIns="91440" tIns="45720" rIns="91440" bIns="45720" rtlCol="0" anchor="t">
            <a:normAutofit/>
          </a:bodyPr>
          <a:lstStyle/>
          <a:p>
            <a:r>
              <a:rPr sz="2000" b="1">
                <a:solidFill>
                  <a:srgbClr val="1A1A1A"/>
                </a:solidFill>
                <a:latin typeface="Calibri"/>
                <a:ea typeface="Calibri"/>
                <a:cs typeface="Calibri"/>
              </a:rPr>
              <a:t>At-Risk (2,333 customers, GBP 1.84M revenue): Win-Back Campaign</a:t>
            </a:r>
            <a:endParaRPr lang="en-US" sz="2000" b="1">
              <a:solidFill>
                <a:srgbClr val="1A1A1A"/>
              </a:solidFill>
              <a:latin typeface="Calibri"/>
              <a:ea typeface="Calibri"/>
              <a:cs typeface="Calibri"/>
            </a:endParaRPr>
          </a:p>
          <a:p>
            <a:pPr lvl="1"/>
            <a:r>
              <a:rPr sz="2000" b="0" dirty="0" err="1">
                <a:solidFill>
                  <a:srgbClr val="1A1A1A"/>
                </a:solidFill>
                <a:latin typeface="Calibri"/>
                <a:ea typeface="Calibri"/>
                <a:cs typeface="Calibri"/>
              </a:rPr>
              <a:t>Personalised</a:t>
            </a:r>
            <a:r>
              <a:rPr sz="2000" b="0" dirty="0">
                <a:solidFill>
                  <a:srgbClr val="1A1A1A"/>
                </a:solidFill>
                <a:latin typeface="Calibri"/>
                <a:ea typeface="Calibri"/>
                <a:cs typeface="Calibri"/>
              </a:rPr>
              <a:t> win-back email: 15-20% discount, 72-hour expiry</a:t>
            </a:r>
          </a:p>
          <a:p>
            <a:pPr lvl="1"/>
            <a:r>
              <a:rPr sz="2000" b="0">
                <a:solidFill>
                  <a:srgbClr val="1A1A1A"/>
                </a:solidFill>
                <a:latin typeface="Calibri"/>
                <a:ea typeface="Calibri"/>
                <a:cs typeface="Calibri"/>
              </a:rPr>
              <a:t>NPS survey to uncover dissatisfaction root causes</a:t>
            </a:r>
            <a:endParaRPr sz="2000" b="0" dirty="0">
              <a:solidFill>
                <a:srgbClr val="1A1A1A"/>
              </a:solidFill>
              <a:latin typeface="Calibri"/>
              <a:ea typeface="Calibri"/>
              <a:cs typeface="Calibri"/>
            </a:endParaRPr>
          </a:p>
          <a:p>
            <a:pPr lvl="1"/>
            <a:r>
              <a:rPr sz="2000" b="0">
                <a:solidFill>
                  <a:srgbClr val="1A1A1A"/>
                </a:solidFill>
                <a:latin typeface="Calibri"/>
                <a:ea typeface="Calibri"/>
                <a:cs typeface="Calibri"/>
              </a:rPr>
              <a:t>Phone outreach for the top 20% by historical spend</a:t>
            </a:r>
            <a:endParaRPr sz="2000" b="0" dirty="0">
              <a:solidFill>
                <a:srgbClr val="1A1A1A"/>
              </a:solidFill>
              <a:latin typeface="Calibri"/>
              <a:ea typeface="Calibri"/>
              <a:cs typeface="Calibri"/>
            </a:endParaRPr>
          </a:p>
          <a:p>
            <a:endParaRPr lang="en-US" sz="2000" b="1" dirty="0">
              <a:solidFill>
                <a:srgbClr val="1A1A1A"/>
              </a:solidFill>
              <a:latin typeface="Calibri"/>
              <a:ea typeface="Calibri"/>
              <a:cs typeface="Calibri"/>
            </a:endParaRPr>
          </a:p>
          <a:p>
            <a:r>
              <a:rPr sz="2000" b="1">
                <a:solidFill>
                  <a:srgbClr val="1A1A1A"/>
                </a:solidFill>
                <a:latin typeface="Calibri"/>
                <a:ea typeface="Calibri"/>
                <a:cs typeface="Calibri"/>
              </a:rPr>
              <a:t>Hibernating (1,085 customers, GBP 427K revenue): Re-Engage or Sunset</a:t>
            </a:r>
            <a:endParaRPr/>
          </a:p>
          <a:p>
            <a:pPr lvl="1"/>
            <a:r>
              <a:rPr sz="2000" b="0">
                <a:solidFill>
                  <a:srgbClr val="1A1A1A"/>
                </a:solidFill>
                <a:latin typeface="Calibri"/>
                <a:ea typeface="Calibri"/>
                <a:cs typeface="Calibri"/>
              </a:rPr>
              <a:t>Aggressive 25-30% discount with urgency messaging</a:t>
            </a:r>
            <a:endParaRPr sz="2000" b="0" dirty="0">
              <a:solidFill>
                <a:srgbClr val="1A1A1A"/>
              </a:solidFill>
              <a:latin typeface="Calibri"/>
              <a:ea typeface="Calibri"/>
              <a:cs typeface="Calibri"/>
            </a:endParaRPr>
          </a:p>
          <a:p>
            <a:pPr lvl="1"/>
            <a:r>
              <a:rPr sz="2000" b="0">
                <a:solidFill>
                  <a:srgbClr val="1A1A1A"/>
                </a:solidFill>
                <a:latin typeface="Calibri"/>
                <a:ea typeface="Calibri"/>
                <a:cs typeface="Calibri"/>
              </a:rPr>
              <a:t>SMS and push notification for dormant mobile users</a:t>
            </a:r>
            <a:endParaRPr sz="2000" b="0" dirty="0">
              <a:solidFill>
                <a:srgbClr val="1A1A1A"/>
              </a:solidFill>
              <a:latin typeface="Calibri"/>
              <a:ea typeface="Calibri"/>
              <a:cs typeface="Calibri"/>
            </a:endParaRPr>
          </a:p>
          <a:p>
            <a:pPr lvl="1"/>
            <a:r>
              <a:rPr sz="2000" b="0">
                <a:solidFill>
                  <a:srgbClr val="1A1A1A"/>
                </a:solidFill>
                <a:latin typeface="Calibri"/>
                <a:ea typeface="Calibri"/>
                <a:cs typeface="Calibri"/>
              </a:rPr>
              <a:t>Suppress from active campaigns after 6 months of no response</a:t>
            </a:r>
            <a:endParaRPr sz="2000" b="0" dirty="0">
              <a:solidFill>
                <a:srgbClr val="1A1A1A"/>
              </a:solidFill>
              <a:latin typeface="Calibri"/>
              <a:ea typeface="Calibri"/>
              <a:cs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Final Project Summary</a:t>
            </a:r>
          </a:p>
        </p:txBody>
      </p:sp>
      <p:sp>
        <p:nvSpPr>
          <p:cNvPr id="3" name="Content Placeholder 2"/>
          <p:cNvSpPr>
            <a:spLocks noGrp="1"/>
          </p:cNvSpPr>
          <p:nvPr>
            <p:ph idx="1"/>
          </p:nvPr>
        </p:nvSpPr>
        <p:spPr/>
        <p:txBody>
          <a:bodyPr vert="horz" wrap="square" lIns="91440" tIns="45720" rIns="91440" bIns="45720" rtlCol="0" anchor="t">
            <a:normAutofit/>
          </a:bodyPr>
          <a:lstStyle/>
          <a:p>
            <a:r>
              <a:rPr sz="2000" b="0">
                <a:solidFill>
                  <a:srgbClr val="1A1A1A"/>
                </a:solidFill>
                <a:latin typeface="Calibri"/>
                <a:ea typeface="Calibri"/>
                <a:cs typeface="Calibri"/>
              </a:rPr>
              <a:t>Dataset: UCI Online Retail, 4,338 unique customers after cleaning</a:t>
            </a:r>
            <a:endParaRPr lang="en-US" sz="2000" b="0" dirty="0">
              <a:solidFill>
                <a:srgbClr val="1A1A1A"/>
              </a:solidFill>
              <a:latin typeface="Calibri"/>
              <a:ea typeface="Calibri"/>
              <a:cs typeface="Calibri"/>
            </a:endParaRPr>
          </a:p>
          <a:p>
            <a:r>
              <a:rPr sz="2000" b="1">
                <a:solidFill>
                  <a:srgbClr val="1A1A1A"/>
                </a:solidFill>
                <a:latin typeface="Calibri"/>
                <a:ea typeface="Calibri"/>
                <a:cs typeface="Calibri"/>
              </a:rPr>
              <a:t>Clustering: 4 algorithms trained -&gt; K-Means wins (Silhouette 0.498, Davies-Bouldin 0.735)</a:t>
            </a:r>
          </a:p>
          <a:p>
            <a:r>
              <a:rPr sz="2000" b="1">
                <a:solidFill>
                  <a:srgbClr val="1A1A1A"/>
                </a:solidFill>
                <a:latin typeface="Calibri"/>
                <a:ea typeface="Calibri"/>
                <a:cs typeface="Calibri"/>
              </a:rPr>
              <a:t>Classification: 6 algorithms trained -&gt; SVM wins (Accuracy 98.62%, F1 98.61%, CV Accuracy 99.15%)</a:t>
            </a:r>
          </a:p>
          <a:p>
            <a:r>
              <a:rPr sz="2000" b="0" dirty="0">
                <a:solidFill>
                  <a:srgbClr val="1A1A1A"/>
                </a:solidFill>
                <a:latin typeface="Calibri"/>
                <a:ea typeface="Calibri"/>
                <a:cs typeface="Calibri"/>
              </a:rPr>
              <a:t>Deliverables: a saved, reusable model pipeline, a live </a:t>
            </a:r>
            <a:r>
              <a:rPr sz="2000" b="0" dirty="0" err="1">
                <a:solidFill>
                  <a:srgbClr val="1A1A1A"/>
                </a:solidFill>
                <a:latin typeface="Calibri"/>
                <a:ea typeface="Calibri"/>
                <a:cs typeface="Calibri"/>
              </a:rPr>
              <a:t>CustomerID</a:t>
            </a:r>
            <a:r>
              <a:rPr sz="2000" b="0" dirty="0">
                <a:solidFill>
                  <a:srgbClr val="1A1A1A"/>
                </a:solidFill>
                <a:latin typeface="Calibri"/>
                <a:ea typeface="Calibri"/>
                <a:cs typeface="Calibri"/>
              </a:rPr>
              <a:t> lookup, a scorer for brand-new customers, and a segmented customer CSV ready for Power BI / CRM import.</a:t>
            </a:r>
          </a:p>
          <a:p>
            <a:r>
              <a:rPr sz="2000" b="1">
                <a:solidFill>
                  <a:srgbClr val="1A1A1A"/>
                </a:solidFill>
                <a:latin typeface="Calibri"/>
                <a:ea typeface="Calibri"/>
                <a:cs typeface="Calibri"/>
              </a:rPr>
              <a:t>Outcome: marketing can now treat Champions, Promising, At-Risk and Hibernating customers differently, and score every new customer the moment they sign up.</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F80C857-4384-387E-D3B0-A675AA2C932C}"/>
              </a:ext>
            </a:extLst>
          </p:cNvPr>
          <p:cNvSpPr>
            <a:spLocks noGrp="1"/>
          </p:cNvSpPr>
          <p:nvPr>
            <p:ph type="title"/>
          </p:nvPr>
        </p:nvSpPr>
        <p:spPr/>
        <p:txBody>
          <a:bodyPr>
            <a:normAutofit/>
          </a:bodyPr>
          <a:lstStyle/>
          <a:p>
            <a:br>
              <a:rPr lang="en-IN" dirty="0"/>
            </a:br>
            <a:r>
              <a:rPr lang="en-IN" dirty="0"/>
              <a:t>Questions ?</a:t>
            </a:r>
          </a:p>
        </p:txBody>
      </p:sp>
    </p:spTree>
    <p:extLst>
      <p:ext uri="{BB962C8B-B14F-4D97-AF65-F5344CB8AC3E}">
        <p14:creationId xmlns:p14="http://schemas.microsoft.com/office/powerpoint/2010/main" val="11738620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endParaRPr lang="en-IN" sz="6600" b="1" dirty="0">
              <a:latin typeface="Calibri" panose="020F0502020204030204" pitchFamily="34" charset="0"/>
            </a:endParaRPr>
          </a:p>
        </p:txBody>
      </p:sp>
    </p:spTree>
    <p:extLst>
      <p:ext uri="{BB962C8B-B14F-4D97-AF65-F5344CB8AC3E}">
        <p14:creationId xmlns:p14="http://schemas.microsoft.com/office/powerpoint/2010/main" val="2438371579"/>
      </p:ext>
    </p:extLst>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6896</TotalTime>
  <Words>30</Words>
  <Application>Microsoft Office PowerPoint</Application>
  <PresentationFormat>Widescreen</PresentationFormat>
  <Paragraphs>13</Paragraphs>
  <Slides>36</Slides>
  <Notes>0</Notes>
  <HiddenSlides>0</HiddenSlides>
  <MMClips>0</MMClips>
  <ScaleCrop>false</ScaleCrop>
  <HeadingPairs>
    <vt:vector size="4" baseType="variant">
      <vt:variant>
        <vt:lpstr>Theme</vt:lpstr>
      </vt:variant>
      <vt:variant>
        <vt:i4>1</vt:i4>
      </vt:variant>
      <vt:variant>
        <vt:lpstr>Slide Titles</vt:lpstr>
      </vt:variant>
      <vt:variant>
        <vt:i4>36</vt:i4>
      </vt:variant>
    </vt:vector>
  </HeadingPairs>
  <TitlesOfParts>
    <vt:vector size="37" baseType="lpstr">
      <vt:lpstr>BIA Template</vt:lpstr>
      <vt:lpstr>PowerPoint Presentation</vt:lpstr>
      <vt:lpstr>Agenda</vt:lpstr>
      <vt:lpstr>The Business Problem</vt:lpstr>
      <vt:lpstr>Project Roadmap</vt:lpstr>
      <vt:lpstr>The Dataset</vt:lpstr>
      <vt:lpstr>Data Cleaning: From Raw to Reliable</vt:lpstr>
      <vt:lpstr>Exploratory Data Analysis</vt:lpstr>
      <vt:lpstr>Monthly Business Trends</vt:lpstr>
      <vt:lpstr>Where the Business Sells and What It Sells</vt:lpstr>
      <vt:lpstr>When Do Customers Shop?</vt:lpstr>
      <vt:lpstr>How Often Do Customers Come Back?</vt:lpstr>
      <vt:lpstr>Feature Engineering</vt:lpstr>
      <vt:lpstr>Building the RFM Table</vt:lpstr>
      <vt:lpstr>RFM Feature Distributions</vt:lpstr>
      <vt:lpstr>How Do the Features Relate to Each Other?</vt:lpstr>
      <vt:lpstr>Customer Segmentation</vt:lpstr>
      <vt:lpstr>Preparing for Clustering</vt:lpstr>
      <vt:lpstr>Finding the Right Number of Clusters</vt:lpstr>
      <vt:lpstr>Four Algorithms, Head to Head</vt:lpstr>
      <vt:lpstr>Clustering Evaluation Metrics</vt:lpstr>
      <vt:lpstr>Visualizing the Clusters (PCA)</vt:lpstr>
      <vt:lpstr>Turning Clusters into Business Segments</vt:lpstr>
      <vt:lpstr>Segment Profiles at a Glance</vt:lpstr>
      <vt:lpstr>Meet the Four Segments</vt:lpstr>
      <vt:lpstr>Customer and Revenue Split by Segment</vt:lpstr>
      <vt:lpstr>Predicting the Segment</vt:lpstr>
      <vt:lpstr>Why Add a Classifier?</vt:lpstr>
      <vt:lpstr>Six Classifiers, Head to Head</vt:lpstr>
      <vt:lpstr>Classification Evaluation Metrics</vt:lpstr>
      <vt:lpstr>Confusion Matrix: Where Does the Model Get Confused?</vt:lpstr>
      <vt:lpstr>From Model to Action</vt:lpstr>
      <vt:lpstr>Champions and Promising: Grow the Relationship</vt:lpstr>
      <vt:lpstr>At-Risk and Hibernating: Win Them Back</vt:lpstr>
      <vt:lpstr>Final Project Summary</vt:lpstr>
      <vt:lpstr> Questions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Suraj Chopade</cp:lastModifiedBy>
  <cp:revision>2354</cp:revision>
  <dcterms:created xsi:type="dcterms:W3CDTF">2020-12-23T13:36:00Z</dcterms:created>
  <dcterms:modified xsi:type="dcterms:W3CDTF">2026-07-09T18:53:40Z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